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Recall@5</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Denso</c:v>
                  </c:pt>
                  <c:pt idx="1">
                    <c:v>+meta</c:v>
                  </c:pt>
                  <c:pt idx="2">
                    <c:v>+BM25</c:v>
                  </c:pt>
                  <c:pt idx="3">
                    <c:v>+rewrite</c:v>
                  </c:pt>
                  <c:pt idx="4">
                    <c:v>rewrite+BM25</c:v>
                  </c:pt>
                </c:lvl>
              </c:multiLvlStrCache>
            </c:multiLvlStrRef>
          </c:cat>
          <c:val>
            <c:numRef>
              <c:f>Sheet1!$B$2:$B$6</c:f>
              <c:numCache>
                <c:formatCode>General</c:formatCode>
                <c:ptCount val="5"/>
                <c:pt idx="0">
                  <c:v>30.8</c:v>
                </c:pt>
                <c:pt idx="1">
                  <c:v>46.2</c:v>
                </c:pt>
                <c:pt idx="2">
                  <c:v>53.8</c:v>
                </c:pt>
                <c:pt idx="3">
                  <c:v>69.2</c:v>
                </c:pt>
                <c:pt idx="4">
                  <c:v>76.9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Nuestra práctica ha consistido en construir un agente que responde preguntas sobre informes 10-K. La idea no era solo que contestara, sino que supiera elegir la fuente correcta: XBRL para cifras contables, texto del 10-K para explicaciones, riesgos o comentarios de la dirección, y que además dejara trazabilidad de dónde salía cada respuesta. En la presentación voy a contar qué montamos, cómo lo evaluamos, qué mejoró de verdad y qué pruebas adicionales hicimos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principal es que las preguntas no son todas iguales. Si me preguntan por el revenue, lo correcto es ir a XBRL. Si me preguntan qué explica un cambio, necesito leer el texto del informe. Y si la pregunta mezcla ambas cosas, el sistema tiene que saber combinar las dos. Por eso no queríamos un RAG que mete cinco fragmentos y responde, sino un agente que decide qué herramienta usar en cada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final. El agente ve cuatro herramientas. Una lista qué hay en el corpus, otra extrae datos XBRL, otra busca fragmentos de texto y una cuarta lee una sección completa, aunque casi no queríamos usarla porque es cara. Además pusimos controles: límite de herramientas, respuesta estructurada y un guardrail que comprueba las cifras contra XBRL. La parte importante es que XBRL y texto no compiten; cumplen funciones distintas.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retrieval probamos varias mejoras por separado. El recall aislado subía bastante con rewriting, pero decidimos no meterlo dentro del sistema final. ¿Por qué? Porque el agente ya hace una especie de reescritura cuando llama a search_filings: formula la query en inglés y con términos del informe. Añadir otra llamada a un LLM antes de buscar era más coste y no siempre mejoraba. Lo que sí dejamos fue metadata filtering y la combinación dense más BM25 con RRF.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evaluación fue una parte importante. No nos quedamos en si la respuesta sonaba bien. Para cada pregunta medíamos si la cita estaba respaldada por el chunk citado, si la cifra coincidía con XBRL y si el agente usaba la herramienta esperada. Además registrábamos coste, latencia, llamadas y recall. Esto es útil porque puedes tener una respuesta correcta pero sin trazabilidad, o una trayectoria que acierta de casualidad.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definitivos de la ejecución final. El baseline ya era razonable, con un 90 por ciento. La versión final llega al 100 por ciento en nuestro golden. Además baja el coste medio y la latencia. Esto para nosotros es importante porque no queríamos mejorar a base de llamar más veces al modelo. Por familias, el salto principal está en las numéricas, que pasan de cinco sobre siete a siete sobre siete.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quizá el resultado más interesante. El recall@5 aislado baja un poco en la versión final, pero la accuracy sube. No es una contradicción. El recall mide si una única consulta recupera el ancla en los cinco primeros resultados. El agente no trabaja así: puede reformular, buscar otra vez, consultar XBRL y combinar evidencias. Por eso miramos las dos cosas, pero no confundimos retrieval aislado con rendimiento del sistema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Ayer hicimos una prueba adicional. Probamos el embedding original contra BGE-M3, y docstrings cortos contra docstrings más largos. La tabla resume el resultado. M3 no mejora el recall: se queda exactamente en 61,5 por ciento. Además es más pesado. Los docstrings largos sí cambian el routing: el agente evita algunas llamadas, pero también sube el coste porque esas descripciones entran en el contexto. Por eso decidimos mantener la implementación final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última prueba nos sirve para defender que no cambiamos cosas por moda. BGE-M3 es más moderno y más grande, pero en este conjunto no aporta. Los docstrings largos pueden ayudar al agente, pero no lo bastante como para cambiar la versión final. La decisión es mantener una versión más ligera y con mejores métricas globales. Este punto creo que es importante: no intentamos ganar por complejidad, sino por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dejamos el notebook congelado, con Run all validado y con la función evaluar preparada para el holdout. En la exposición no deberíamos tocar la arquitectura cuando veamos las diez preguntas. Ejecutamos evaluar, miramos la tabla y explicamos el resultado. La idea central que nos llevamos es que un agente financiero no es solo un modelo que escribe bien. Necesita fuentes controladas, herramientas bien separadas y métricas que obliguen a demostrar de dónde sale cada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1</a:t>
            </a:r>
            <a:endParaRPr lang="en-US" sz="850" dirty="0"/>
          </a:p>
        </p:txBody>
      </p:sp>
      <p:sp>
        <p:nvSpPr>
          <p:cNvPr id="5" name="Text 3"/>
          <p:cNvSpPr/>
          <p:nvPr/>
        </p:nvSpPr>
        <p:spPr>
          <a:xfrm>
            <a:off x="685800" y="960120"/>
            <a:ext cx="6583680" cy="1005840"/>
          </a:xfrm>
          <a:prstGeom prst="rect">
            <a:avLst/>
          </a:prstGeom>
          <a:noFill/>
          <a:ln/>
        </p:spPr>
        <p:txBody>
          <a:bodyPr wrap="square" lIns="0" tIns="0" rIns="0" bIns="0" rtlCol="0" anchor="ctr">
            <a:normAutofit/>
          </a:bodyPr>
          <a:lstStyle/>
          <a:p>
            <a:pPr indent="0" marL="0">
              <a:buNone/>
            </a:pPr>
            <a:r>
              <a:rPr lang="en-US" sz="3600" b="1" dirty="0">
                <a:solidFill>
                  <a:srgbClr val="0F172A"/>
                </a:solidFill>
              </a:rPr>
              <a:t>Agente RAG financiero</a:t>
            </a:r>
            <a:endParaRPr lang="en-US" sz="3600" dirty="0"/>
          </a:p>
          <a:p>
            <a:pPr indent="0" marL="0">
              <a:buNone/>
            </a:pPr>
            <a:r>
              <a:rPr lang="en-US" sz="3600" b="1" dirty="0">
                <a:solidFill>
                  <a:srgbClr val="0F172A"/>
                </a:solidFill>
              </a:rPr>
              <a:t>sobre informes 10-K</a:t>
            </a:r>
            <a:endParaRPr lang="en-US" sz="3600" dirty="0"/>
          </a:p>
        </p:txBody>
      </p:sp>
      <p:sp>
        <p:nvSpPr>
          <p:cNvPr id="6" name="Text 4"/>
          <p:cNvSpPr/>
          <p:nvPr/>
        </p:nvSpPr>
        <p:spPr>
          <a:xfrm>
            <a:off x="713232" y="2176272"/>
            <a:ext cx="5852160" cy="320040"/>
          </a:xfrm>
          <a:prstGeom prst="rect">
            <a:avLst/>
          </a:prstGeom>
          <a:noFill/>
          <a:ln/>
        </p:spPr>
        <p:txBody>
          <a:bodyPr wrap="square" lIns="0" tIns="0" rIns="0" bIns="0" rtlCol="0" anchor="ctr"/>
          <a:lstStyle/>
          <a:p>
            <a:pPr indent="0" marL="0">
              <a:buNone/>
            </a:pPr>
            <a:r>
              <a:rPr lang="en-US" sz="1550" dirty="0">
                <a:solidFill>
                  <a:srgbClr val="475569"/>
                </a:solidFill>
              </a:rPr>
              <a:t>XBRL + retrieval híbrido + agente con herramientas</a:t>
            </a:r>
            <a:endParaRPr lang="en-US" sz="1550" dirty="0"/>
          </a:p>
        </p:txBody>
      </p:sp>
      <p:sp>
        <p:nvSpPr>
          <p:cNvPr id="7" name="Shape 5"/>
          <p:cNvSpPr/>
          <p:nvPr/>
        </p:nvSpPr>
        <p:spPr>
          <a:xfrm>
            <a:off x="713232" y="2834640"/>
            <a:ext cx="1828800" cy="384048"/>
          </a:xfrm>
          <a:prstGeom prst="roundRect">
            <a:avLst>
              <a:gd name="adj" fmla="val 21429"/>
            </a:avLst>
          </a:prstGeom>
          <a:solidFill>
            <a:srgbClr val="DBEAFE"/>
          </a:solidFill>
          <a:ln w="12700">
            <a:solidFill>
              <a:srgbClr val="DBEAFE"/>
            </a:solidFill>
            <a:prstDash val="solid"/>
          </a:ln>
        </p:spPr>
      </p:sp>
      <p:sp>
        <p:nvSpPr>
          <p:cNvPr id="8" name="Text 6"/>
          <p:cNvSpPr/>
          <p:nvPr/>
        </p:nvSpPr>
        <p:spPr>
          <a:xfrm>
            <a:off x="822960" y="2916936"/>
            <a:ext cx="1609344" cy="164592"/>
          </a:xfrm>
          <a:prstGeom prst="rect">
            <a:avLst/>
          </a:prstGeom>
          <a:noFill/>
          <a:ln/>
        </p:spPr>
        <p:txBody>
          <a:bodyPr wrap="square" lIns="0" tIns="0" rIns="0" bIns="0" rtlCol="0" anchor="ctr"/>
          <a:lstStyle/>
          <a:p>
            <a:pPr algn="ctr" indent="0" marL="0">
              <a:buNone/>
            </a:pPr>
            <a:r>
              <a:rPr lang="en-US" sz="1050" b="1" dirty="0">
                <a:solidFill>
                  <a:srgbClr val="2563EB"/>
                </a:solidFill>
              </a:rPr>
              <a:t>20 preguntas golden</a:t>
            </a:r>
            <a:endParaRPr lang="en-US" sz="1050" dirty="0"/>
          </a:p>
        </p:txBody>
      </p:sp>
      <p:sp>
        <p:nvSpPr>
          <p:cNvPr id="9" name="Shape 7"/>
          <p:cNvSpPr/>
          <p:nvPr/>
        </p:nvSpPr>
        <p:spPr>
          <a:xfrm>
            <a:off x="2743200" y="2834640"/>
            <a:ext cx="2057400" cy="384048"/>
          </a:xfrm>
          <a:prstGeom prst="roundRect">
            <a:avLst>
              <a:gd name="adj" fmla="val 21429"/>
            </a:avLst>
          </a:prstGeom>
          <a:solidFill>
            <a:srgbClr val="CFFAFE"/>
          </a:solidFill>
          <a:ln w="12700">
            <a:solidFill>
              <a:srgbClr val="CFFAFE"/>
            </a:solidFill>
            <a:prstDash val="solid"/>
          </a:ln>
        </p:spPr>
      </p:sp>
      <p:sp>
        <p:nvSpPr>
          <p:cNvPr id="10" name="Text 8"/>
          <p:cNvSpPr/>
          <p:nvPr/>
        </p:nvSpPr>
        <p:spPr>
          <a:xfrm>
            <a:off x="2852928" y="2916936"/>
            <a:ext cx="1837944" cy="164592"/>
          </a:xfrm>
          <a:prstGeom prst="rect">
            <a:avLst/>
          </a:prstGeom>
          <a:noFill/>
          <a:ln/>
        </p:spPr>
        <p:txBody>
          <a:bodyPr wrap="square" lIns="0" tIns="0" rIns="0" bIns="0" rtlCol="0" anchor="ctr"/>
          <a:lstStyle/>
          <a:p>
            <a:pPr algn="ctr" indent="0" marL="0">
              <a:buNone/>
            </a:pPr>
            <a:r>
              <a:rPr lang="en-US" sz="1050" b="1" dirty="0">
                <a:solidFill>
                  <a:srgbClr val="0891B2"/>
                </a:solidFill>
              </a:rPr>
              <a:t>6 empresas · FY2024/25</a:t>
            </a:r>
            <a:endParaRPr lang="en-US" sz="1050" dirty="0"/>
          </a:p>
        </p:txBody>
      </p:sp>
      <p:sp>
        <p:nvSpPr>
          <p:cNvPr id="11" name="Shape 9"/>
          <p:cNvSpPr/>
          <p:nvPr/>
        </p:nvSpPr>
        <p:spPr>
          <a:xfrm>
            <a:off x="4983480" y="2834640"/>
            <a:ext cx="1234440" cy="384048"/>
          </a:xfrm>
          <a:prstGeom prst="roundRect">
            <a:avLst>
              <a:gd name="adj" fmla="val 21429"/>
            </a:avLst>
          </a:prstGeom>
          <a:solidFill>
            <a:srgbClr val="DCFCE7"/>
          </a:solidFill>
          <a:ln w="12700">
            <a:solidFill>
              <a:srgbClr val="DCFCE7"/>
            </a:solidFill>
            <a:prstDash val="solid"/>
          </a:ln>
        </p:spPr>
      </p:sp>
      <p:sp>
        <p:nvSpPr>
          <p:cNvPr id="12" name="Text 10"/>
          <p:cNvSpPr/>
          <p:nvPr/>
        </p:nvSpPr>
        <p:spPr>
          <a:xfrm>
            <a:off x="5093208" y="2916936"/>
            <a:ext cx="1014984" cy="164592"/>
          </a:xfrm>
          <a:prstGeom prst="rect">
            <a:avLst/>
          </a:prstGeom>
          <a:noFill/>
          <a:ln/>
        </p:spPr>
        <p:txBody>
          <a:bodyPr wrap="square" lIns="0" tIns="0" rIns="0" bIns="0" rtlCol="0" anchor="ctr"/>
          <a:lstStyle/>
          <a:p>
            <a:pPr algn="ctr" indent="0" marL="0">
              <a:buNone/>
            </a:pPr>
            <a:r>
              <a:rPr lang="en-US" sz="1050" b="1" dirty="0">
                <a:solidFill>
                  <a:srgbClr val="16A34A"/>
                </a:solidFill>
              </a:rPr>
              <a:t>100% final</a:t>
            </a:r>
            <a:endParaRPr lang="en-US" sz="1050" dirty="0"/>
          </a:p>
        </p:txBody>
      </p:sp>
      <p:sp>
        <p:nvSpPr>
          <p:cNvPr id="13" name="Shape 11"/>
          <p:cNvSpPr/>
          <p:nvPr/>
        </p:nvSpPr>
        <p:spPr>
          <a:xfrm>
            <a:off x="7818120" y="914400"/>
            <a:ext cx="2926080" cy="2926080"/>
          </a:xfrm>
          <a:prstGeom prst="arc">
            <a:avLst/>
          </a:prstGeom>
          <a:noFill/>
          <a:ln w="228600">
            <a:solidFill>
              <a:srgbClr val="2563EB">
                <a:alpha val="90000"/>
              </a:srgbClr>
            </a:solidFill>
            <a:prstDash val="solid"/>
          </a:ln>
        </p:spPr>
      </p:sp>
      <p:sp>
        <p:nvSpPr>
          <p:cNvPr id="14" name="Shape 12"/>
          <p:cNvSpPr/>
          <p:nvPr/>
        </p:nvSpPr>
        <p:spPr>
          <a:xfrm>
            <a:off x="8321040" y="1417320"/>
            <a:ext cx="1920240" cy="1920240"/>
          </a:xfrm>
          <a:prstGeom prst="arc">
            <a:avLst/>
          </a:prstGeom>
          <a:noFill/>
          <a:ln w="177800">
            <a:solidFill>
              <a:srgbClr val="16A34A">
                <a:alpha val="88000"/>
              </a:srgbClr>
            </a:solidFill>
            <a:prstDash val="solid"/>
          </a:ln>
        </p:spPr>
      </p:sp>
      <p:sp>
        <p:nvSpPr>
          <p:cNvPr id="15" name="Text 13"/>
          <p:cNvSpPr/>
          <p:nvPr/>
        </p:nvSpPr>
        <p:spPr>
          <a:xfrm>
            <a:off x="7845552" y="4023360"/>
            <a:ext cx="2926080" cy="640080"/>
          </a:xfrm>
          <a:prstGeom prst="rect">
            <a:avLst/>
          </a:prstGeom>
          <a:noFill/>
          <a:ln/>
        </p:spPr>
        <p:txBody>
          <a:bodyPr wrap="square" lIns="0" tIns="0" rIns="0" bIns="0" rtlCol="0" anchor="ctr">
            <a:normAutofit/>
          </a:bodyPr>
          <a:lstStyle/>
          <a:p>
            <a:pPr algn="ctr" indent="0" marL="0">
              <a:buNone/>
            </a:pPr>
            <a:r>
              <a:rPr lang="en-US" sz="2600" b="1" dirty="0">
                <a:solidFill>
                  <a:srgbClr val="0F172A"/>
                </a:solidFill>
              </a:rPr>
              <a:t>RAG</a:t>
            </a:r>
            <a:endParaRPr lang="en-US" sz="2600" dirty="0"/>
          </a:p>
          <a:p>
            <a:pPr algn="ctr" indent="0" marL="0">
              <a:buNone/>
            </a:pPr>
            <a:r>
              <a:rPr lang="en-US" sz="2600" b="1" dirty="0">
                <a:solidFill>
                  <a:srgbClr val="0F172A"/>
                </a:solidFill>
              </a:rPr>
              <a:t>trazable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 · problema</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2</a:t>
            </a:r>
            <a:endParaRPr lang="en-US" sz="850" dirty="0"/>
          </a:p>
        </p:txBody>
      </p:sp>
      <p:sp>
        <p:nvSpPr>
          <p:cNvPr id="5" name="Text 3"/>
          <p:cNvSpPr/>
          <p:nvPr/>
        </p:nvSpPr>
        <p:spPr>
          <a:xfrm>
            <a:off x="548640" y="411480"/>
            <a:ext cx="6949440" cy="457200"/>
          </a:xfrm>
          <a:prstGeom prst="rect">
            <a:avLst/>
          </a:prstGeom>
          <a:noFill/>
          <a:ln/>
        </p:spPr>
        <p:txBody>
          <a:bodyPr wrap="square" lIns="0" tIns="0" rIns="0" bIns="0" rtlCol="0" anchor="ctr">
            <a:normAutofit/>
          </a:bodyPr>
          <a:lstStyle/>
          <a:p>
            <a:pPr indent="0" marL="0">
              <a:buNone/>
            </a:pPr>
            <a:r>
              <a:rPr lang="en-US" sz="2500" b="1" dirty="0">
                <a:solidFill>
                  <a:srgbClr val="0F172A"/>
                </a:solidFill>
              </a:rPr>
              <a:t>El problema no era solo “buscar texto”</a:t>
            </a:r>
            <a:endParaRPr lang="en-US" sz="2500" dirty="0"/>
          </a:p>
        </p:txBody>
      </p:sp>
      <p:sp>
        <p:nvSpPr>
          <p:cNvPr id="6" name="Text 4"/>
          <p:cNvSpPr/>
          <p:nvPr/>
        </p:nvSpPr>
        <p:spPr>
          <a:xfrm>
            <a:off x="548640" y="932688"/>
            <a:ext cx="7955280" cy="274320"/>
          </a:xfrm>
          <a:prstGeom prst="rect">
            <a:avLst/>
          </a:prstGeom>
          <a:noFill/>
          <a:ln/>
        </p:spPr>
        <p:txBody>
          <a:bodyPr wrap="square" lIns="0" tIns="0" rIns="0" bIns="0" rtlCol="0" anchor="ctr"/>
          <a:lstStyle/>
          <a:p>
            <a:pPr indent="0" marL="0">
              <a:buNone/>
            </a:pPr>
            <a:r>
              <a:rPr lang="en-US" sz="1150" dirty="0">
                <a:solidFill>
                  <a:srgbClr val="475569"/>
                </a:solidFill>
              </a:rPr>
              <a:t>Una pregunta financiera mezcla cifras exactas, explicación narrativa y trazabilidad.</a:t>
            </a:r>
            <a:endParaRPr lang="en-US" sz="1150" dirty="0"/>
          </a:p>
        </p:txBody>
      </p:sp>
      <p:sp>
        <p:nvSpPr>
          <p:cNvPr id="7" name="Shape 5"/>
          <p:cNvSpPr/>
          <p:nvPr/>
        </p:nvSpPr>
        <p:spPr>
          <a:xfrm>
            <a:off x="731520" y="1828800"/>
            <a:ext cx="1554480" cy="621792"/>
          </a:xfrm>
          <a:prstGeom prst="roundRect">
            <a:avLst>
              <a:gd name="adj" fmla="val 8824"/>
            </a:avLst>
          </a:prstGeom>
          <a:solidFill>
            <a:srgbClr val="DBEAFE"/>
          </a:solidFill>
          <a:ln w="12700">
            <a:solidFill>
              <a:srgbClr val="DBEAFE"/>
            </a:solidFill>
            <a:prstDash val="solid"/>
          </a:ln>
        </p:spPr>
      </p:sp>
      <p:sp>
        <p:nvSpPr>
          <p:cNvPr id="8" name="Text 6"/>
          <p:cNvSpPr/>
          <p:nvPr/>
        </p:nvSpPr>
        <p:spPr>
          <a:xfrm>
            <a:off x="841248" y="1993392"/>
            <a:ext cx="1335024" cy="256032"/>
          </a:xfrm>
          <a:prstGeom prst="rect">
            <a:avLst/>
          </a:prstGeom>
          <a:noFill/>
          <a:ln/>
        </p:spPr>
        <p:txBody>
          <a:bodyPr wrap="square" lIns="0" tIns="0" rIns="0" bIns="0" rtlCol="0" anchor="ctr">
            <a:normAutofit/>
          </a:bodyPr>
          <a:lstStyle/>
          <a:p>
            <a:pPr algn="ctr" indent="0" marL="0">
              <a:buNone/>
            </a:pPr>
            <a:r>
              <a:rPr lang="en-US" sz="1100" b="1" dirty="0">
                <a:solidFill>
                  <a:srgbClr val="2563EB"/>
                </a:solidFill>
              </a:rPr>
              <a:t>Pregunta</a:t>
            </a:r>
            <a:endParaRPr lang="en-US" sz="1100" dirty="0"/>
          </a:p>
          <a:p>
            <a:pPr algn="ctr" indent="0" marL="0">
              <a:buNone/>
            </a:pPr>
            <a:r>
              <a:rPr lang="en-US" sz="1100" b="1" dirty="0">
                <a:solidFill>
                  <a:srgbClr val="2563EB"/>
                </a:solidFill>
              </a:rPr>
              <a:t>financiera</a:t>
            </a:r>
            <a:endParaRPr lang="en-US" sz="1100" dirty="0"/>
          </a:p>
        </p:txBody>
      </p:sp>
      <p:sp>
        <p:nvSpPr>
          <p:cNvPr id="9" name="Shape 7"/>
          <p:cNvSpPr/>
          <p:nvPr/>
        </p:nvSpPr>
        <p:spPr>
          <a:xfrm>
            <a:off x="2331720" y="2139696"/>
            <a:ext cx="502920" cy="0"/>
          </a:xfrm>
          <a:prstGeom prst="line">
            <a:avLst/>
          </a:prstGeom>
          <a:noFill/>
          <a:ln w="19050">
            <a:solidFill>
              <a:srgbClr val="475569"/>
            </a:solidFill>
            <a:prstDash val="solid"/>
            <a:headEnd type="none"/>
            <a:tailEnd type="triangle"/>
          </a:ln>
        </p:spPr>
      </p:sp>
      <p:sp>
        <p:nvSpPr>
          <p:cNvPr id="10" name="Shape 8"/>
          <p:cNvSpPr/>
          <p:nvPr/>
        </p:nvSpPr>
        <p:spPr>
          <a:xfrm>
            <a:off x="2880360" y="1828800"/>
            <a:ext cx="1463040" cy="621792"/>
          </a:xfrm>
          <a:prstGeom prst="roundRect">
            <a:avLst>
              <a:gd name="adj" fmla="val 8824"/>
            </a:avLst>
          </a:prstGeom>
          <a:solidFill>
            <a:srgbClr val="FEF3C7"/>
          </a:solidFill>
          <a:ln w="12700">
            <a:solidFill>
              <a:srgbClr val="FEF3C7"/>
            </a:solidFill>
            <a:prstDash val="solid"/>
          </a:ln>
        </p:spPr>
      </p:sp>
      <p:sp>
        <p:nvSpPr>
          <p:cNvPr id="11" name="Text 9"/>
          <p:cNvSpPr/>
          <p:nvPr/>
        </p:nvSpPr>
        <p:spPr>
          <a:xfrm>
            <a:off x="2990088" y="1993392"/>
            <a:ext cx="1243584" cy="256032"/>
          </a:xfrm>
          <a:prstGeom prst="rect">
            <a:avLst/>
          </a:prstGeom>
          <a:noFill/>
          <a:ln/>
        </p:spPr>
        <p:txBody>
          <a:bodyPr wrap="square" lIns="0" tIns="0" rIns="0" bIns="0" rtlCol="0" anchor="ctr">
            <a:normAutofit/>
          </a:bodyPr>
          <a:lstStyle/>
          <a:p>
            <a:pPr algn="ctr" indent="0" marL="0">
              <a:buNone/>
            </a:pPr>
            <a:r>
              <a:rPr lang="en-US" sz="1100" b="1" dirty="0">
                <a:solidFill>
                  <a:srgbClr val="D97706"/>
                </a:solidFill>
              </a:rPr>
              <a:t>¿Es una</a:t>
            </a:r>
            <a:endParaRPr lang="en-US" sz="1100" dirty="0"/>
          </a:p>
          <a:p>
            <a:pPr algn="ctr" indent="0" marL="0">
              <a:buNone/>
            </a:pPr>
            <a:r>
              <a:rPr lang="en-US" sz="1100" b="1" dirty="0">
                <a:solidFill>
                  <a:srgbClr val="D97706"/>
                </a:solidFill>
              </a:rPr>
              <a:t>cifra?</a:t>
            </a:r>
            <a:endParaRPr lang="en-US" sz="1100" dirty="0"/>
          </a:p>
        </p:txBody>
      </p:sp>
      <p:sp>
        <p:nvSpPr>
          <p:cNvPr id="12" name="Shape 10"/>
          <p:cNvSpPr/>
          <p:nvPr/>
        </p:nvSpPr>
        <p:spPr>
          <a:xfrm>
            <a:off x="4407408" y="2139696"/>
            <a:ext cx="484632" cy="0"/>
          </a:xfrm>
          <a:prstGeom prst="line">
            <a:avLst/>
          </a:prstGeom>
          <a:noFill/>
          <a:ln w="19050">
            <a:solidFill>
              <a:srgbClr val="475569"/>
            </a:solidFill>
            <a:prstDash val="solid"/>
            <a:headEnd type="none"/>
            <a:tailEnd type="triangle"/>
          </a:ln>
        </p:spPr>
      </p:sp>
      <p:sp>
        <p:nvSpPr>
          <p:cNvPr id="13" name="Shape 11"/>
          <p:cNvSpPr/>
          <p:nvPr/>
        </p:nvSpPr>
        <p:spPr>
          <a:xfrm>
            <a:off x="4937760" y="1828800"/>
            <a:ext cx="1645920" cy="621792"/>
          </a:xfrm>
          <a:prstGeom prst="roundRect">
            <a:avLst>
              <a:gd name="adj" fmla="val 8824"/>
            </a:avLst>
          </a:prstGeom>
          <a:solidFill>
            <a:srgbClr val="E0E7FF"/>
          </a:solidFill>
          <a:ln w="12700">
            <a:solidFill>
              <a:srgbClr val="E0E7FF"/>
            </a:solidFill>
            <a:prstDash val="solid"/>
          </a:ln>
        </p:spPr>
      </p:sp>
      <p:sp>
        <p:nvSpPr>
          <p:cNvPr id="14" name="Text 12"/>
          <p:cNvSpPr/>
          <p:nvPr/>
        </p:nvSpPr>
        <p:spPr>
          <a:xfrm>
            <a:off x="5047488" y="1993392"/>
            <a:ext cx="1426464" cy="256032"/>
          </a:xfrm>
          <a:prstGeom prst="rect">
            <a:avLst/>
          </a:prstGeom>
          <a:noFill/>
          <a:ln/>
        </p:spPr>
        <p:txBody>
          <a:bodyPr wrap="square" lIns="0" tIns="0" rIns="0" bIns="0" rtlCol="0" anchor="ctr">
            <a:normAutofit/>
          </a:bodyPr>
          <a:lstStyle/>
          <a:p>
            <a:pPr algn="ctr" indent="0" marL="0">
              <a:buNone/>
            </a:pPr>
            <a:r>
              <a:rPr lang="en-US" sz="1100" b="1" dirty="0">
                <a:solidFill>
                  <a:srgbClr val="4F46E5"/>
                </a:solidFill>
              </a:rPr>
              <a:t>¿Es una</a:t>
            </a:r>
            <a:endParaRPr lang="en-US" sz="1100" dirty="0"/>
          </a:p>
          <a:p>
            <a:pPr algn="ctr" indent="0" marL="0">
              <a:buNone/>
            </a:pPr>
            <a:r>
              <a:rPr lang="en-US" sz="1100" b="1" dirty="0">
                <a:solidFill>
                  <a:srgbClr val="4F46E5"/>
                </a:solidFill>
              </a:rPr>
              <a:t>explicación?</a:t>
            </a:r>
            <a:endParaRPr lang="en-US" sz="1100" dirty="0"/>
          </a:p>
        </p:txBody>
      </p:sp>
      <p:sp>
        <p:nvSpPr>
          <p:cNvPr id="15" name="Shape 13"/>
          <p:cNvSpPr/>
          <p:nvPr/>
        </p:nvSpPr>
        <p:spPr>
          <a:xfrm>
            <a:off x="6629400" y="2139696"/>
            <a:ext cx="502920" cy="0"/>
          </a:xfrm>
          <a:prstGeom prst="line">
            <a:avLst/>
          </a:prstGeom>
          <a:noFill/>
          <a:ln w="19050">
            <a:solidFill>
              <a:srgbClr val="475569"/>
            </a:solidFill>
            <a:prstDash val="solid"/>
            <a:headEnd type="none"/>
            <a:tailEnd type="triangle"/>
          </a:ln>
        </p:spPr>
      </p:sp>
      <p:sp>
        <p:nvSpPr>
          <p:cNvPr id="16" name="Shape 14"/>
          <p:cNvSpPr/>
          <p:nvPr/>
        </p:nvSpPr>
        <p:spPr>
          <a:xfrm>
            <a:off x="7178040" y="1828800"/>
            <a:ext cx="1600200" cy="621792"/>
          </a:xfrm>
          <a:prstGeom prst="roundRect">
            <a:avLst>
              <a:gd name="adj" fmla="val 8824"/>
            </a:avLst>
          </a:prstGeom>
          <a:solidFill>
            <a:srgbClr val="DCFCE7"/>
          </a:solidFill>
          <a:ln w="12700">
            <a:solidFill>
              <a:srgbClr val="DCFCE7"/>
            </a:solidFill>
            <a:prstDash val="solid"/>
          </a:ln>
        </p:spPr>
      </p:sp>
      <p:sp>
        <p:nvSpPr>
          <p:cNvPr id="17" name="Text 15"/>
          <p:cNvSpPr/>
          <p:nvPr/>
        </p:nvSpPr>
        <p:spPr>
          <a:xfrm>
            <a:off x="7287768" y="1993392"/>
            <a:ext cx="1380744" cy="256032"/>
          </a:xfrm>
          <a:prstGeom prst="rect">
            <a:avLst/>
          </a:prstGeom>
          <a:noFill/>
          <a:ln/>
        </p:spPr>
        <p:txBody>
          <a:bodyPr wrap="square" lIns="0" tIns="0" rIns="0" bIns="0" rtlCol="0" anchor="ctr">
            <a:normAutofit/>
          </a:bodyPr>
          <a:lstStyle/>
          <a:p>
            <a:pPr algn="ctr" indent="0" marL="0">
              <a:buNone/>
            </a:pPr>
            <a:r>
              <a:rPr lang="en-US" sz="1100" b="1" dirty="0">
                <a:solidFill>
                  <a:srgbClr val="16A34A"/>
                </a:solidFill>
              </a:rPr>
              <a:t>Respuesta</a:t>
            </a:r>
            <a:endParaRPr lang="en-US" sz="1100" dirty="0"/>
          </a:p>
          <a:p>
            <a:pPr algn="ctr" indent="0" marL="0">
              <a:buNone/>
            </a:pPr>
            <a:r>
              <a:rPr lang="en-US" sz="1100" b="1" dirty="0">
                <a:solidFill>
                  <a:srgbClr val="16A34A"/>
                </a:solidFill>
              </a:rPr>
              <a:t>trazable</a:t>
            </a:r>
            <a:endParaRPr lang="en-US" sz="1100" dirty="0"/>
          </a:p>
        </p:txBody>
      </p:sp>
      <p:sp>
        <p:nvSpPr>
          <p:cNvPr id="18" name="Shape 16"/>
          <p:cNvSpPr/>
          <p:nvPr/>
        </p:nvSpPr>
        <p:spPr>
          <a:xfrm>
            <a:off x="868680" y="3337560"/>
            <a:ext cx="5760720" cy="914400"/>
          </a:xfrm>
          <a:prstGeom prst="roundRect">
            <a:avLst>
              <a:gd name="adj" fmla="val 8000"/>
            </a:avLst>
          </a:prstGeom>
          <a:solidFill>
            <a:srgbClr val="FFFFFF"/>
          </a:solidFill>
          <a:ln w="13970">
            <a:solidFill>
              <a:srgbClr val="2563EB"/>
            </a:solidFill>
            <a:prstDash val="solid"/>
          </a:ln>
        </p:spPr>
      </p:sp>
      <p:sp>
        <p:nvSpPr>
          <p:cNvPr id="19" name="Text 17"/>
          <p:cNvSpPr/>
          <p:nvPr/>
        </p:nvSpPr>
        <p:spPr>
          <a:xfrm>
            <a:off x="1033272" y="3474720"/>
            <a:ext cx="5431536" cy="713232"/>
          </a:xfrm>
          <a:prstGeom prst="rect">
            <a:avLst/>
          </a:prstGeom>
          <a:noFill/>
          <a:ln/>
        </p:spPr>
        <p:txBody>
          <a:bodyPr wrap="square" lIns="381" tIns="381" rIns="381" bIns="381" rtlCol="0" anchor="ctr">
            <a:normAutofit/>
          </a:bodyPr>
          <a:lstStyle/>
          <a:p>
            <a:pPr indent="0" marL="0">
              <a:buNone/>
            </a:pPr>
            <a:r>
              <a:rPr lang="en-US" sz="1250" dirty="0">
                <a:solidFill>
                  <a:srgbClr val="0F172A"/>
                </a:solidFill>
              </a:rPr>
              <a:t>Ejemplo: “¿Cuánto creció el revenue de Microsoft y qué nuevos riesgos de IA aparecen?”</a:t>
            </a:r>
            <a:endParaRPr lang="en-US" sz="1250" dirty="0"/>
          </a:p>
        </p:txBody>
      </p:sp>
      <p:sp>
        <p:nvSpPr>
          <p:cNvPr id="20" name="Text 18"/>
          <p:cNvSpPr/>
          <p:nvPr/>
        </p:nvSpPr>
        <p:spPr>
          <a:xfrm>
            <a:off x="7086600" y="3429000"/>
            <a:ext cx="3566160" cy="548640"/>
          </a:xfrm>
          <a:prstGeom prst="rect">
            <a:avLst/>
          </a:prstGeom>
          <a:noFill/>
          <a:ln/>
        </p:spPr>
        <p:txBody>
          <a:bodyPr wrap="square" lIns="0" tIns="0" rIns="0" bIns="0" rtlCol="0" anchor="ctr">
            <a:normAutofit/>
          </a:bodyPr>
          <a:lstStyle/>
          <a:p>
            <a:pPr indent="0" marL="0">
              <a:buNone/>
            </a:pPr>
            <a:r>
              <a:rPr lang="en-US" sz="1750" b="1" dirty="0">
                <a:solidFill>
                  <a:srgbClr val="0F172A"/>
                </a:solidFill>
              </a:rPr>
              <a:t>Una sola búsqueda fija no basta: hay que componer varias fuentes.</a:t>
            </a:r>
            <a:endParaRPr lang="en-US" sz="1750" dirty="0"/>
          </a:p>
        </p:txBody>
      </p:sp>
      <p:sp>
        <p:nvSpPr>
          <p:cNvPr id="21" name="Text 19"/>
          <p:cNvSpPr/>
          <p:nvPr/>
        </p:nvSpPr>
        <p:spPr>
          <a:xfrm>
            <a:off x="7086600" y="4096512"/>
            <a:ext cx="3886200" cy="411480"/>
          </a:xfrm>
          <a:prstGeom prst="rect">
            <a:avLst/>
          </a:prstGeom>
          <a:noFill/>
          <a:ln/>
        </p:spPr>
        <p:txBody>
          <a:bodyPr wrap="square" lIns="0" tIns="0" rIns="0" bIns="0" rtlCol="0" anchor="ctr">
            <a:normAutofit/>
          </a:bodyPr>
          <a:lstStyle/>
          <a:p>
            <a:pPr indent="0" marL="0">
              <a:buNone/>
            </a:pPr>
            <a:r>
              <a:rPr lang="en-US" sz="1250" dirty="0">
                <a:solidFill>
                  <a:srgbClr val="475569"/>
                </a:solidFill>
              </a:rPr>
              <a:t>Ese fue el motivo para usar un agente con herramientas, no un RAG plano.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 · diseño</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3</a:t>
            </a:r>
            <a:endParaRPr lang="en-US" sz="850" dirty="0"/>
          </a:p>
        </p:txBody>
      </p:sp>
      <p:sp>
        <p:nvSpPr>
          <p:cNvPr id="5" name="Text 3"/>
          <p:cNvSpPr/>
          <p:nvPr/>
        </p:nvSpPr>
        <p:spPr>
          <a:xfrm>
            <a:off x="548640" y="411480"/>
            <a:ext cx="6949440" cy="457200"/>
          </a:xfrm>
          <a:prstGeom prst="rect">
            <a:avLst/>
          </a:prstGeom>
          <a:noFill/>
          <a:ln/>
        </p:spPr>
        <p:txBody>
          <a:bodyPr wrap="square" lIns="0" tIns="0" rIns="0" bIns="0" rtlCol="0" anchor="ctr">
            <a:normAutofit/>
          </a:bodyPr>
          <a:lstStyle/>
          <a:p>
            <a:pPr indent="0" marL="0">
              <a:buNone/>
            </a:pPr>
            <a:r>
              <a:rPr lang="en-US" sz="2500" b="1" dirty="0">
                <a:solidFill>
                  <a:srgbClr val="0F172A"/>
                </a:solidFill>
              </a:rPr>
              <a:t>Arquitectura final: dos fuentes, cuatro herramientas</a:t>
            </a:r>
            <a:endParaRPr lang="en-US" sz="2500" dirty="0"/>
          </a:p>
        </p:txBody>
      </p:sp>
      <p:sp>
        <p:nvSpPr>
          <p:cNvPr id="6" name="Text 4"/>
          <p:cNvSpPr/>
          <p:nvPr/>
        </p:nvSpPr>
        <p:spPr>
          <a:xfrm>
            <a:off x="548640" y="932688"/>
            <a:ext cx="7955280" cy="274320"/>
          </a:xfrm>
          <a:prstGeom prst="rect">
            <a:avLst/>
          </a:prstGeom>
          <a:noFill/>
          <a:ln/>
        </p:spPr>
        <p:txBody>
          <a:bodyPr wrap="square" lIns="0" tIns="0" rIns="0" bIns="0" rtlCol="0" anchor="ctr"/>
          <a:lstStyle/>
          <a:p>
            <a:pPr indent="0" marL="0">
              <a:buNone/>
            </a:pPr>
            <a:r>
              <a:rPr lang="en-US" sz="1150" dirty="0">
                <a:solidFill>
                  <a:srgbClr val="475569"/>
                </a:solidFill>
              </a:rPr>
              <a:t>El agente decide entre dato estructurado y evidencia textual.</a:t>
            </a:r>
            <a:endParaRPr lang="en-US" sz="1150" dirty="0"/>
          </a:p>
        </p:txBody>
      </p:sp>
      <p:sp>
        <p:nvSpPr>
          <p:cNvPr id="7" name="Shape 5"/>
          <p:cNvSpPr/>
          <p:nvPr/>
        </p:nvSpPr>
        <p:spPr>
          <a:xfrm>
            <a:off x="731520" y="1874520"/>
            <a:ext cx="1097280" cy="621792"/>
          </a:xfrm>
          <a:prstGeom prst="roundRect">
            <a:avLst>
              <a:gd name="adj" fmla="val 8824"/>
            </a:avLst>
          </a:prstGeom>
          <a:solidFill>
            <a:srgbClr val="DBEAFE"/>
          </a:solidFill>
          <a:ln w="12700">
            <a:solidFill>
              <a:srgbClr val="DBEAFE"/>
            </a:solidFill>
            <a:prstDash val="solid"/>
          </a:ln>
        </p:spPr>
      </p:sp>
      <p:sp>
        <p:nvSpPr>
          <p:cNvPr id="8" name="Text 6"/>
          <p:cNvSpPr/>
          <p:nvPr/>
        </p:nvSpPr>
        <p:spPr>
          <a:xfrm>
            <a:off x="841248" y="2039112"/>
            <a:ext cx="877824" cy="256032"/>
          </a:xfrm>
          <a:prstGeom prst="rect">
            <a:avLst/>
          </a:prstGeom>
          <a:noFill/>
          <a:ln/>
        </p:spPr>
        <p:txBody>
          <a:bodyPr wrap="square" lIns="0" tIns="0" rIns="0" bIns="0" rtlCol="0" anchor="ctr">
            <a:normAutofit/>
          </a:bodyPr>
          <a:lstStyle/>
          <a:p>
            <a:pPr algn="ctr" indent="0" marL="0">
              <a:buNone/>
            </a:pPr>
            <a:r>
              <a:rPr lang="en-US" sz="1100" b="1" dirty="0">
                <a:solidFill>
                  <a:srgbClr val="2563EB"/>
                </a:solidFill>
              </a:rPr>
              <a:t>Usuario</a:t>
            </a:r>
            <a:endParaRPr lang="en-US" sz="1100" dirty="0"/>
          </a:p>
        </p:txBody>
      </p:sp>
      <p:sp>
        <p:nvSpPr>
          <p:cNvPr id="9" name="Shape 7"/>
          <p:cNvSpPr/>
          <p:nvPr/>
        </p:nvSpPr>
        <p:spPr>
          <a:xfrm>
            <a:off x="1874520" y="2185416"/>
            <a:ext cx="731520" cy="0"/>
          </a:xfrm>
          <a:prstGeom prst="line">
            <a:avLst/>
          </a:prstGeom>
          <a:noFill/>
          <a:ln w="19050">
            <a:solidFill>
              <a:srgbClr val="475569"/>
            </a:solidFill>
            <a:prstDash val="solid"/>
            <a:headEnd type="none"/>
            <a:tailEnd type="triangle"/>
          </a:ln>
        </p:spPr>
      </p:sp>
      <p:sp>
        <p:nvSpPr>
          <p:cNvPr id="10" name="Shape 8"/>
          <p:cNvSpPr/>
          <p:nvPr/>
        </p:nvSpPr>
        <p:spPr>
          <a:xfrm>
            <a:off x="2651760" y="1801368"/>
            <a:ext cx="1645920" cy="621792"/>
          </a:xfrm>
          <a:prstGeom prst="roundRect">
            <a:avLst>
              <a:gd name="adj" fmla="val 8824"/>
            </a:avLst>
          </a:prstGeom>
          <a:solidFill>
            <a:srgbClr val="E0E7FF"/>
          </a:solidFill>
          <a:ln w="12700">
            <a:solidFill>
              <a:srgbClr val="E0E7FF"/>
            </a:solidFill>
            <a:prstDash val="solid"/>
          </a:ln>
        </p:spPr>
      </p:sp>
      <p:sp>
        <p:nvSpPr>
          <p:cNvPr id="11" name="Text 9"/>
          <p:cNvSpPr/>
          <p:nvPr/>
        </p:nvSpPr>
        <p:spPr>
          <a:xfrm>
            <a:off x="2761488" y="1965960"/>
            <a:ext cx="1426464" cy="256032"/>
          </a:xfrm>
          <a:prstGeom prst="rect">
            <a:avLst/>
          </a:prstGeom>
          <a:noFill/>
          <a:ln/>
        </p:spPr>
        <p:txBody>
          <a:bodyPr wrap="square" lIns="0" tIns="0" rIns="0" bIns="0" rtlCol="0" anchor="ctr">
            <a:normAutofit/>
          </a:bodyPr>
          <a:lstStyle/>
          <a:p>
            <a:pPr algn="ctr" indent="0" marL="0">
              <a:buNone/>
            </a:pPr>
            <a:r>
              <a:rPr lang="en-US" sz="1100" b="1" dirty="0">
                <a:solidFill>
                  <a:srgbClr val="4F46E5"/>
                </a:solidFill>
              </a:rPr>
              <a:t>Agente</a:t>
            </a:r>
            <a:endParaRPr lang="en-US" sz="1100" dirty="0"/>
          </a:p>
          <a:p>
            <a:pPr algn="ctr" indent="0" marL="0">
              <a:buNone/>
            </a:pPr>
            <a:r>
              <a:rPr lang="en-US" sz="1100" b="1" dirty="0">
                <a:solidFill>
                  <a:srgbClr val="4F46E5"/>
                </a:solidFill>
              </a:rPr>
              <a:t>Gemini 3.8</a:t>
            </a:r>
            <a:endParaRPr lang="en-US" sz="1100" dirty="0"/>
          </a:p>
        </p:txBody>
      </p:sp>
      <p:sp>
        <p:nvSpPr>
          <p:cNvPr id="12" name="Shape 10"/>
          <p:cNvSpPr/>
          <p:nvPr/>
        </p:nvSpPr>
        <p:spPr>
          <a:xfrm>
            <a:off x="4343400" y="2185416"/>
            <a:ext cx="640080" cy="-539496"/>
          </a:xfrm>
          <a:prstGeom prst="line">
            <a:avLst/>
          </a:prstGeom>
          <a:noFill/>
          <a:ln w="19050">
            <a:solidFill>
              <a:srgbClr val="475569"/>
            </a:solidFill>
            <a:prstDash val="solid"/>
            <a:headEnd type="none"/>
            <a:tailEnd type="triangle"/>
          </a:ln>
        </p:spPr>
      </p:sp>
      <p:sp>
        <p:nvSpPr>
          <p:cNvPr id="13" name="Shape 11"/>
          <p:cNvSpPr/>
          <p:nvPr/>
        </p:nvSpPr>
        <p:spPr>
          <a:xfrm>
            <a:off x="4343400" y="2185416"/>
            <a:ext cx="640080" cy="557784"/>
          </a:xfrm>
          <a:prstGeom prst="line">
            <a:avLst/>
          </a:prstGeom>
          <a:noFill/>
          <a:ln w="19050">
            <a:solidFill>
              <a:srgbClr val="475569"/>
            </a:solidFill>
            <a:prstDash val="solid"/>
            <a:headEnd type="none"/>
            <a:tailEnd type="triangle"/>
          </a:ln>
        </p:spPr>
      </p:sp>
      <p:sp>
        <p:nvSpPr>
          <p:cNvPr id="14" name="Shape 12"/>
          <p:cNvSpPr/>
          <p:nvPr/>
        </p:nvSpPr>
        <p:spPr>
          <a:xfrm>
            <a:off x="5029200" y="1325880"/>
            <a:ext cx="1874520" cy="621792"/>
          </a:xfrm>
          <a:prstGeom prst="roundRect">
            <a:avLst>
              <a:gd name="adj" fmla="val 8824"/>
            </a:avLst>
          </a:prstGeom>
          <a:solidFill>
            <a:srgbClr val="DCFCE7"/>
          </a:solidFill>
          <a:ln w="12700">
            <a:solidFill>
              <a:srgbClr val="DCFCE7"/>
            </a:solidFill>
            <a:prstDash val="solid"/>
          </a:ln>
        </p:spPr>
      </p:sp>
      <p:sp>
        <p:nvSpPr>
          <p:cNvPr id="15" name="Text 13"/>
          <p:cNvSpPr/>
          <p:nvPr/>
        </p:nvSpPr>
        <p:spPr>
          <a:xfrm>
            <a:off x="5138928" y="1490472"/>
            <a:ext cx="1655064" cy="256032"/>
          </a:xfrm>
          <a:prstGeom prst="rect">
            <a:avLst/>
          </a:prstGeom>
          <a:noFill/>
          <a:ln/>
        </p:spPr>
        <p:txBody>
          <a:bodyPr wrap="square" lIns="0" tIns="0" rIns="0" bIns="0" rtlCol="0" anchor="ctr">
            <a:normAutofit/>
          </a:bodyPr>
          <a:lstStyle/>
          <a:p>
            <a:pPr algn="ctr" indent="0" marL="0">
              <a:buNone/>
            </a:pPr>
            <a:r>
              <a:rPr lang="en-US" sz="1100" b="1" dirty="0">
                <a:solidFill>
                  <a:srgbClr val="16A34A"/>
                </a:solidFill>
              </a:rPr>
              <a:t>XBRL</a:t>
            </a:r>
            <a:endParaRPr lang="en-US" sz="1100" dirty="0"/>
          </a:p>
          <a:p>
            <a:pPr algn="ctr" indent="0" marL="0">
              <a:buNone/>
            </a:pPr>
            <a:r>
              <a:rPr lang="en-US" sz="1100" b="1" dirty="0">
                <a:solidFill>
                  <a:srgbClr val="16A34A"/>
                </a:solidFill>
              </a:rPr>
              <a:t>get_xbrl_fact</a:t>
            </a:r>
            <a:endParaRPr lang="en-US" sz="1100" dirty="0"/>
          </a:p>
        </p:txBody>
      </p:sp>
      <p:sp>
        <p:nvSpPr>
          <p:cNvPr id="16" name="Shape 14"/>
          <p:cNvSpPr/>
          <p:nvPr/>
        </p:nvSpPr>
        <p:spPr>
          <a:xfrm>
            <a:off x="5029200" y="2468880"/>
            <a:ext cx="1874520" cy="621792"/>
          </a:xfrm>
          <a:prstGeom prst="roundRect">
            <a:avLst>
              <a:gd name="adj" fmla="val 8824"/>
            </a:avLst>
          </a:prstGeom>
          <a:solidFill>
            <a:srgbClr val="FEF3C7"/>
          </a:solidFill>
          <a:ln w="12700">
            <a:solidFill>
              <a:srgbClr val="FEF3C7"/>
            </a:solidFill>
            <a:prstDash val="solid"/>
          </a:ln>
        </p:spPr>
      </p:sp>
      <p:sp>
        <p:nvSpPr>
          <p:cNvPr id="17" name="Text 15"/>
          <p:cNvSpPr/>
          <p:nvPr/>
        </p:nvSpPr>
        <p:spPr>
          <a:xfrm>
            <a:off x="5138928" y="2633472"/>
            <a:ext cx="1655064" cy="256032"/>
          </a:xfrm>
          <a:prstGeom prst="rect">
            <a:avLst/>
          </a:prstGeom>
          <a:noFill/>
          <a:ln/>
        </p:spPr>
        <p:txBody>
          <a:bodyPr wrap="square" lIns="0" tIns="0" rIns="0" bIns="0" rtlCol="0" anchor="ctr">
            <a:normAutofit/>
          </a:bodyPr>
          <a:lstStyle/>
          <a:p>
            <a:pPr algn="ctr" indent="0" marL="0">
              <a:buNone/>
            </a:pPr>
            <a:r>
              <a:rPr lang="en-US" sz="1100" b="1" dirty="0">
                <a:solidFill>
                  <a:srgbClr val="D97706"/>
                </a:solidFill>
              </a:rPr>
              <a:t>10-K texto</a:t>
            </a:r>
            <a:endParaRPr lang="en-US" sz="1100" dirty="0"/>
          </a:p>
          <a:p>
            <a:pPr algn="ctr" indent="0" marL="0">
              <a:buNone/>
            </a:pPr>
            <a:r>
              <a:rPr lang="en-US" sz="1100" b="1" dirty="0">
                <a:solidFill>
                  <a:srgbClr val="D97706"/>
                </a:solidFill>
              </a:rPr>
              <a:t>search_filings</a:t>
            </a:r>
            <a:endParaRPr lang="en-US" sz="1100" dirty="0"/>
          </a:p>
        </p:txBody>
      </p:sp>
      <p:sp>
        <p:nvSpPr>
          <p:cNvPr id="18" name="Shape 16"/>
          <p:cNvSpPr/>
          <p:nvPr/>
        </p:nvSpPr>
        <p:spPr>
          <a:xfrm>
            <a:off x="7040880" y="1645920"/>
            <a:ext cx="685800" cy="539496"/>
          </a:xfrm>
          <a:prstGeom prst="line">
            <a:avLst/>
          </a:prstGeom>
          <a:noFill/>
          <a:ln w="19050">
            <a:solidFill>
              <a:srgbClr val="475569"/>
            </a:solidFill>
            <a:prstDash val="solid"/>
            <a:headEnd type="none"/>
            <a:tailEnd type="triangle"/>
          </a:ln>
        </p:spPr>
      </p:sp>
      <p:sp>
        <p:nvSpPr>
          <p:cNvPr id="19" name="Shape 17"/>
          <p:cNvSpPr/>
          <p:nvPr/>
        </p:nvSpPr>
        <p:spPr>
          <a:xfrm>
            <a:off x="7040880" y="2770632"/>
            <a:ext cx="685800" cy="-585216"/>
          </a:xfrm>
          <a:prstGeom prst="line">
            <a:avLst/>
          </a:prstGeom>
          <a:noFill/>
          <a:ln w="19050">
            <a:solidFill>
              <a:srgbClr val="475569"/>
            </a:solidFill>
            <a:prstDash val="solid"/>
            <a:headEnd type="none"/>
            <a:tailEnd type="triangle"/>
          </a:ln>
        </p:spPr>
      </p:sp>
      <p:sp>
        <p:nvSpPr>
          <p:cNvPr id="20" name="Shape 18"/>
          <p:cNvSpPr/>
          <p:nvPr/>
        </p:nvSpPr>
        <p:spPr>
          <a:xfrm>
            <a:off x="7772400" y="1801368"/>
            <a:ext cx="1874520" cy="621792"/>
          </a:xfrm>
          <a:prstGeom prst="roundRect">
            <a:avLst>
              <a:gd name="adj" fmla="val 8824"/>
            </a:avLst>
          </a:prstGeom>
          <a:solidFill>
            <a:srgbClr val="DCFCE7"/>
          </a:solidFill>
          <a:ln w="12700">
            <a:solidFill>
              <a:srgbClr val="DCFCE7"/>
            </a:solidFill>
            <a:prstDash val="solid"/>
          </a:ln>
        </p:spPr>
      </p:sp>
      <p:sp>
        <p:nvSpPr>
          <p:cNvPr id="21" name="Text 19"/>
          <p:cNvSpPr/>
          <p:nvPr/>
        </p:nvSpPr>
        <p:spPr>
          <a:xfrm>
            <a:off x="7882128" y="1965960"/>
            <a:ext cx="1655064" cy="256032"/>
          </a:xfrm>
          <a:prstGeom prst="rect">
            <a:avLst/>
          </a:prstGeom>
          <a:noFill/>
          <a:ln/>
        </p:spPr>
        <p:txBody>
          <a:bodyPr wrap="square" lIns="0" tIns="0" rIns="0" bIns="0" rtlCol="0" anchor="ctr">
            <a:normAutofit/>
          </a:bodyPr>
          <a:lstStyle/>
          <a:p>
            <a:pPr algn="ctr" indent="0" marL="0">
              <a:buNone/>
            </a:pPr>
            <a:r>
              <a:rPr lang="en-US" sz="1100" b="1" dirty="0">
                <a:solidFill>
                  <a:srgbClr val="16A34A"/>
                </a:solidFill>
              </a:rPr>
              <a:t>Respuesta</a:t>
            </a:r>
            <a:endParaRPr lang="en-US" sz="1100" dirty="0"/>
          </a:p>
          <a:p>
            <a:pPr algn="ctr" indent="0" marL="0">
              <a:buNone/>
            </a:pPr>
            <a:r>
              <a:rPr lang="en-US" sz="1100" b="1" dirty="0">
                <a:solidFill>
                  <a:srgbClr val="16A34A"/>
                </a:solidFill>
              </a:rPr>
              <a:t>Financiera</a:t>
            </a:r>
            <a:endParaRPr lang="en-US" sz="1100" dirty="0"/>
          </a:p>
        </p:txBody>
      </p:sp>
      <p:sp>
        <p:nvSpPr>
          <p:cNvPr id="22" name="Text 20"/>
          <p:cNvSpPr/>
          <p:nvPr/>
        </p:nvSpPr>
        <p:spPr>
          <a:xfrm>
            <a:off x="868680" y="3886200"/>
            <a:ext cx="2194560" cy="274320"/>
          </a:xfrm>
          <a:prstGeom prst="rect">
            <a:avLst/>
          </a:prstGeom>
          <a:noFill/>
          <a:ln/>
        </p:spPr>
        <p:txBody>
          <a:bodyPr wrap="square" lIns="0" tIns="0" rIns="0" bIns="0" rtlCol="0" anchor="ctr"/>
          <a:lstStyle/>
          <a:p>
            <a:pPr indent="0" marL="0">
              <a:buNone/>
            </a:pPr>
            <a:r>
              <a:rPr lang="en-US" sz="1600" b="1" dirty="0">
                <a:solidFill>
                  <a:srgbClr val="0F172A"/>
                </a:solidFill>
              </a:rPr>
              <a:t>Tools contractuales</a:t>
            </a:r>
            <a:endParaRPr lang="en-US" sz="1600" dirty="0"/>
          </a:p>
        </p:txBody>
      </p:sp>
      <p:sp>
        <p:nvSpPr>
          <p:cNvPr id="23" name="Text 21"/>
          <p:cNvSpPr/>
          <p:nvPr/>
        </p:nvSpPr>
        <p:spPr>
          <a:xfrm>
            <a:off x="868680" y="4315968"/>
            <a:ext cx="6035040" cy="274320"/>
          </a:xfrm>
          <a:prstGeom prst="rect">
            <a:avLst/>
          </a:prstGeom>
          <a:noFill/>
          <a:ln/>
        </p:spPr>
        <p:txBody>
          <a:bodyPr wrap="square" lIns="0" tIns="0" rIns="0" bIns="0" rtlCol="0" anchor="ctr"/>
          <a:lstStyle/>
          <a:p>
            <a:pPr indent="0" marL="0">
              <a:buNone/>
            </a:pPr>
            <a:r>
              <a:rPr lang="en-US" sz="1350" dirty="0">
                <a:solidFill>
                  <a:srgbClr val="475569"/>
                </a:solidFill>
              </a:rPr>
              <a:t>list_available · get_xbrl_fact · search_filings · read_section</a:t>
            </a:r>
            <a:endParaRPr lang="en-US" sz="1350" dirty="0"/>
          </a:p>
        </p:txBody>
      </p:sp>
      <p:sp>
        <p:nvSpPr>
          <p:cNvPr id="24" name="Text 22"/>
          <p:cNvSpPr/>
          <p:nvPr/>
        </p:nvSpPr>
        <p:spPr>
          <a:xfrm>
            <a:off x="868680" y="4983480"/>
            <a:ext cx="2194560" cy="274320"/>
          </a:xfrm>
          <a:prstGeom prst="rect">
            <a:avLst/>
          </a:prstGeom>
          <a:noFill/>
          <a:ln/>
        </p:spPr>
        <p:txBody>
          <a:bodyPr wrap="square" lIns="0" tIns="0" rIns="0" bIns="0" rtlCol="0" anchor="ctr"/>
          <a:lstStyle/>
          <a:p>
            <a:pPr indent="0" marL="0">
              <a:buNone/>
            </a:pPr>
            <a:r>
              <a:rPr lang="en-US" sz="1600" b="1" dirty="0">
                <a:solidFill>
                  <a:srgbClr val="0F172A"/>
                </a:solidFill>
              </a:rPr>
              <a:t>Controles</a:t>
            </a:r>
            <a:endParaRPr lang="en-US" sz="1600" dirty="0"/>
          </a:p>
        </p:txBody>
      </p:sp>
      <p:sp>
        <p:nvSpPr>
          <p:cNvPr id="25" name="Text 23"/>
          <p:cNvSpPr/>
          <p:nvPr/>
        </p:nvSpPr>
        <p:spPr>
          <a:xfrm>
            <a:off x="868680" y="5413248"/>
            <a:ext cx="7406640" cy="274320"/>
          </a:xfrm>
          <a:prstGeom prst="rect">
            <a:avLst/>
          </a:prstGeom>
          <a:noFill/>
          <a:ln/>
        </p:spPr>
        <p:txBody>
          <a:bodyPr wrap="square" lIns="0" tIns="0" rIns="0" bIns="0" rtlCol="0" anchor="ctr"/>
          <a:lstStyle/>
          <a:p>
            <a:pPr indent="0" marL="0">
              <a:buNone/>
            </a:pPr>
            <a:r>
              <a:rPr lang="en-US" sz="1350" dirty="0">
                <a:solidFill>
                  <a:srgbClr val="475569"/>
                </a:solidFill>
              </a:rPr>
              <a:t>límite de tools · salida estructurada · cita/chunk_id · guardrail numérico</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 · retrieval</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4</a:t>
            </a:r>
            <a:endParaRPr lang="en-US" sz="850" dirty="0"/>
          </a:p>
        </p:txBody>
      </p:sp>
      <p:sp>
        <p:nvSpPr>
          <p:cNvPr id="5" name="Text 3"/>
          <p:cNvSpPr/>
          <p:nvPr/>
        </p:nvSpPr>
        <p:spPr>
          <a:xfrm>
            <a:off x="548640" y="411480"/>
            <a:ext cx="6949440" cy="457200"/>
          </a:xfrm>
          <a:prstGeom prst="rect">
            <a:avLst/>
          </a:prstGeom>
          <a:noFill/>
          <a:ln/>
        </p:spPr>
        <p:txBody>
          <a:bodyPr wrap="square" lIns="0" tIns="0" rIns="0" bIns="0" rtlCol="0" anchor="ctr">
            <a:normAutofit/>
          </a:bodyPr>
          <a:lstStyle/>
          <a:p>
            <a:pPr indent="0" marL="0">
              <a:buNone/>
            </a:pPr>
            <a:r>
              <a:rPr lang="en-US" sz="2500" b="1" dirty="0">
                <a:solidFill>
                  <a:srgbClr val="0F172A"/>
                </a:solidFill>
              </a:rPr>
              <a:t>Retrieval: medimos mejoras antes de adoptarlas</a:t>
            </a:r>
            <a:endParaRPr lang="en-US" sz="2500" dirty="0"/>
          </a:p>
        </p:txBody>
      </p:sp>
      <p:sp>
        <p:nvSpPr>
          <p:cNvPr id="6" name="Text 4"/>
          <p:cNvSpPr/>
          <p:nvPr/>
        </p:nvSpPr>
        <p:spPr>
          <a:xfrm>
            <a:off x="548640" y="932688"/>
            <a:ext cx="7955280" cy="274320"/>
          </a:xfrm>
          <a:prstGeom prst="rect">
            <a:avLst/>
          </a:prstGeom>
          <a:noFill/>
          <a:ln/>
        </p:spPr>
        <p:txBody>
          <a:bodyPr wrap="square" lIns="0" tIns="0" rIns="0" bIns="0" rtlCol="0" anchor="ctr"/>
          <a:lstStyle/>
          <a:p>
            <a:pPr indent="0" marL="0">
              <a:buNone/>
            </a:pPr>
            <a:r>
              <a:rPr lang="en-US" sz="1150" dirty="0">
                <a:solidFill>
                  <a:srgbClr val="475569"/>
                </a:solidFill>
              </a:rPr>
              <a:t>El buscador final combina señal semántica y señal léxica.</a:t>
            </a:r>
            <a:endParaRPr lang="en-US" sz="1150" dirty="0"/>
          </a:p>
        </p:txBody>
      </p:sp>
      <p:graphicFrame>
        <p:nvGraphicFramePr>
          <p:cNvPr id="7" name="Chart 0" descr=""/>
          <p:cNvGraphicFramePr/>
          <p:nvPr/>
        </p:nvGraphicFramePr>
        <p:xfrm>
          <a:off x="731520" y="1417320"/>
          <a:ext cx="5943600" cy="34747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315200" y="1481328"/>
            <a:ext cx="3291840" cy="1051560"/>
          </a:xfrm>
          <a:prstGeom prst="roundRect">
            <a:avLst>
              <a:gd name="adj" fmla="val 6957"/>
            </a:avLst>
          </a:prstGeom>
          <a:solidFill>
            <a:srgbClr val="DCFCE7"/>
          </a:solidFill>
          <a:ln w="13970">
            <a:solidFill>
              <a:srgbClr val="16A34A"/>
            </a:solidFill>
            <a:prstDash val="solid"/>
          </a:ln>
        </p:spPr>
      </p:sp>
      <p:sp>
        <p:nvSpPr>
          <p:cNvPr id="9" name="Text 6"/>
          <p:cNvSpPr/>
          <p:nvPr/>
        </p:nvSpPr>
        <p:spPr>
          <a:xfrm>
            <a:off x="7479792" y="1618488"/>
            <a:ext cx="2962656" cy="850392"/>
          </a:xfrm>
          <a:prstGeom prst="rect">
            <a:avLst/>
          </a:prstGeom>
          <a:noFill/>
          <a:ln/>
        </p:spPr>
        <p:txBody>
          <a:bodyPr wrap="square" lIns="381" tIns="381" rIns="381" bIns="381" rtlCol="0" anchor="ctr">
            <a:normAutofit/>
          </a:bodyPr>
          <a:lstStyle/>
          <a:p>
            <a:pPr indent="0" marL="0">
              <a:buNone/>
            </a:pPr>
            <a:r>
              <a:rPr lang="en-US" sz="1250" dirty="0">
                <a:solidFill>
                  <a:srgbClr val="0F172A"/>
                </a:solidFill>
              </a:rPr>
              <a:t>Lo que entró en el sistema final:</a:t>
            </a:r>
            <a:endParaRPr lang="en-US" sz="1250" dirty="0"/>
          </a:p>
          <a:p>
            <a:pPr indent="0" marL="0">
              <a:buNone/>
            </a:pPr>
            <a:r>
              <a:rPr lang="en-US" sz="1250" dirty="0">
                <a:solidFill>
                  <a:srgbClr val="0F172A"/>
                </a:solidFill>
              </a:rPr>
              <a:t>metadata filtering + dense + BM25/RRF</a:t>
            </a:r>
            <a:endParaRPr lang="en-US" sz="1250" dirty="0"/>
          </a:p>
        </p:txBody>
      </p:sp>
      <p:sp>
        <p:nvSpPr>
          <p:cNvPr id="10" name="Shape 7"/>
          <p:cNvSpPr/>
          <p:nvPr/>
        </p:nvSpPr>
        <p:spPr>
          <a:xfrm>
            <a:off x="7315200" y="2880360"/>
            <a:ext cx="3291840" cy="1051560"/>
          </a:xfrm>
          <a:prstGeom prst="roundRect">
            <a:avLst>
              <a:gd name="adj" fmla="val 6957"/>
            </a:avLst>
          </a:prstGeom>
          <a:solidFill>
            <a:srgbClr val="FEF3C7"/>
          </a:solidFill>
          <a:ln w="13970">
            <a:solidFill>
              <a:srgbClr val="D97706"/>
            </a:solidFill>
            <a:prstDash val="solid"/>
          </a:ln>
        </p:spPr>
      </p:sp>
      <p:sp>
        <p:nvSpPr>
          <p:cNvPr id="11" name="Text 8"/>
          <p:cNvSpPr/>
          <p:nvPr/>
        </p:nvSpPr>
        <p:spPr>
          <a:xfrm>
            <a:off x="7479792" y="3017520"/>
            <a:ext cx="2962656" cy="850392"/>
          </a:xfrm>
          <a:prstGeom prst="rect">
            <a:avLst/>
          </a:prstGeom>
          <a:noFill/>
          <a:ln/>
        </p:spPr>
        <p:txBody>
          <a:bodyPr wrap="square" lIns="381" tIns="381" rIns="381" bIns="381" rtlCol="0" anchor="ctr">
            <a:normAutofit/>
          </a:bodyPr>
          <a:lstStyle/>
          <a:p>
            <a:pPr indent="0" marL="0">
              <a:buNone/>
            </a:pPr>
            <a:r>
              <a:rPr lang="en-US" sz="1250" dirty="0">
                <a:solidFill>
                  <a:srgbClr val="0F172A"/>
                </a:solidFill>
              </a:rPr>
              <a:t>Lo que medimos pero no incorporamos:</a:t>
            </a:r>
            <a:endParaRPr lang="en-US" sz="1250" dirty="0"/>
          </a:p>
          <a:p>
            <a:pPr indent="0" marL="0">
              <a:buNone/>
            </a:pPr>
            <a:r>
              <a:rPr lang="en-US" sz="1250" dirty="0">
                <a:solidFill>
                  <a:srgbClr val="0F172A"/>
                </a:solidFill>
              </a:rPr>
              <a:t>query rewriting explícito</a:t>
            </a:r>
            <a:endParaRPr lang="en-US" sz="1250" dirty="0"/>
          </a:p>
        </p:txBody>
      </p:sp>
      <p:sp>
        <p:nvSpPr>
          <p:cNvPr id="12" name="Text 9"/>
          <p:cNvSpPr/>
          <p:nvPr/>
        </p:nvSpPr>
        <p:spPr>
          <a:xfrm>
            <a:off x="7315200" y="4434840"/>
            <a:ext cx="3291840" cy="274320"/>
          </a:xfrm>
          <a:prstGeom prst="rect">
            <a:avLst/>
          </a:prstGeom>
          <a:noFill/>
          <a:ln/>
        </p:spPr>
        <p:txBody>
          <a:bodyPr wrap="square" lIns="0" tIns="0" rIns="0" bIns="0" rtlCol="0" anchor="ctr"/>
          <a:lstStyle/>
          <a:p>
            <a:pPr indent="0" marL="0">
              <a:buNone/>
            </a:pPr>
            <a:r>
              <a:rPr lang="en-US" sz="1550" b="1" dirty="0">
                <a:solidFill>
                  <a:srgbClr val="0F172A"/>
                </a:solidFill>
              </a:rPr>
              <a:t>Por qué no añadimos rewriting</a:t>
            </a:r>
            <a:endParaRPr lang="en-US" sz="1550" dirty="0"/>
          </a:p>
        </p:txBody>
      </p:sp>
      <p:sp>
        <p:nvSpPr>
          <p:cNvPr id="13" name="Text 10"/>
          <p:cNvSpPr/>
          <p:nvPr/>
        </p:nvSpPr>
        <p:spPr>
          <a:xfrm>
            <a:off x="7315200" y="4846320"/>
            <a:ext cx="3429000" cy="731520"/>
          </a:xfrm>
          <a:prstGeom prst="rect">
            <a:avLst/>
          </a:prstGeom>
          <a:noFill/>
          <a:ln/>
        </p:spPr>
        <p:txBody>
          <a:bodyPr wrap="square" lIns="0" tIns="0" rIns="0" bIns="0" rtlCol="0" anchor="ctr">
            <a:normAutofit/>
          </a:bodyPr>
          <a:lstStyle/>
          <a:p>
            <a:pPr indent="0" marL="0">
              <a:buNone/>
            </a:pPr>
            <a:r>
              <a:rPr lang="en-US" sz="1250" dirty="0">
                <a:solidFill>
                  <a:srgbClr val="475569"/>
                </a:solidFill>
              </a:rPr>
              <a:t>El agente ya formula consultas en inglés. Una segunda llamada al LLM añadía coste y podía empeorar algunas búsquedas.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 · evaluación</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5</a:t>
            </a:r>
            <a:endParaRPr lang="en-US" sz="850" dirty="0"/>
          </a:p>
        </p:txBody>
      </p:sp>
      <p:sp>
        <p:nvSpPr>
          <p:cNvPr id="5" name="Text 3"/>
          <p:cNvSpPr/>
          <p:nvPr/>
        </p:nvSpPr>
        <p:spPr>
          <a:xfrm>
            <a:off x="548640" y="411480"/>
            <a:ext cx="6949440" cy="457200"/>
          </a:xfrm>
          <a:prstGeom prst="rect">
            <a:avLst/>
          </a:prstGeom>
          <a:noFill/>
          <a:ln/>
        </p:spPr>
        <p:txBody>
          <a:bodyPr wrap="square" lIns="0" tIns="0" rIns="0" bIns="0" rtlCol="0" anchor="ctr">
            <a:normAutofit/>
          </a:bodyPr>
          <a:lstStyle/>
          <a:p>
            <a:pPr indent="0" marL="0">
              <a:buNone/>
            </a:pPr>
            <a:r>
              <a:rPr lang="en-US" sz="2500" b="1" dirty="0">
                <a:solidFill>
                  <a:srgbClr val="0F172A"/>
                </a:solidFill>
              </a:rPr>
              <a:t>Evaluación: no solo miramos la respuesta final</a:t>
            </a:r>
            <a:endParaRPr lang="en-US" sz="2500" dirty="0"/>
          </a:p>
        </p:txBody>
      </p:sp>
      <p:sp>
        <p:nvSpPr>
          <p:cNvPr id="6" name="Text 4"/>
          <p:cNvSpPr/>
          <p:nvPr/>
        </p:nvSpPr>
        <p:spPr>
          <a:xfrm>
            <a:off x="548640" y="932688"/>
            <a:ext cx="7955280" cy="274320"/>
          </a:xfrm>
          <a:prstGeom prst="rect">
            <a:avLst/>
          </a:prstGeom>
          <a:noFill/>
          <a:ln/>
        </p:spPr>
        <p:txBody>
          <a:bodyPr wrap="square" lIns="0" tIns="0" rIns="0" bIns="0" rtlCol="0" anchor="ctr"/>
          <a:lstStyle/>
          <a:p>
            <a:pPr indent="0" marL="0">
              <a:buNone/>
            </a:pPr>
            <a:r>
              <a:rPr lang="en-US" sz="1150" dirty="0">
                <a:solidFill>
                  <a:srgbClr val="475569"/>
                </a:solidFill>
              </a:rPr>
              <a:t>Golden propio de 20 preguntas y métricas oficiales + operativas.</a:t>
            </a:r>
            <a:endParaRPr lang="en-US" sz="1150" dirty="0"/>
          </a:p>
        </p:txBody>
      </p:sp>
      <p:sp>
        <p:nvSpPr>
          <p:cNvPr id="7" name="Text 5"/>
          <p:cNvSpPr/>
          <p:nvPr/>
        </p:nvSpPr>
        <p:spPr>
          <a:xfrm>
            <a:off x="822960" y="1508760"/>
            <a:ext cx="1828800" cy="502920"/>
          </a:xfrm>
          <a:prstGeom prst="rect">
            <a:avLst/>
          </a:prstGeom>
          <a:noFill/>
          <a:ln/>
        </p:spPr>
        <p:txBody>
          <a:bodyPr wrap="square" lIns="0" tIns="0" rIns="0" bIns="0" rtlCol="0" anchor="ctr">
            <a:normAutofit/>
          </a:bodyPr>
          <a:lstStyle/>
          <a:p>
            <a:pPr indent="0" marL="0">
              <a:buNone/>
            </a:pPr>
            <a:r>
              <a:rPr lang="en-US" sz="3100" b="1" dirty="0">
                <a:solidFill>
                  <a:srgbClr val="2563EB"/>
                </a:solidFill>
              </a:rPr>
              <a:t>20</a:t>
            </a:r>
            <a:endParaRPr lang="en-US" sz="3100" dirty="0"/>
          </a:p>
        </p:txBody>
      </p:sp>
      <p:sp>
        <p:nvSpPr>
          <p:cNvPr id="8" name="Text 6"/>
          <p:cNvSpPr/>
          <p:nvPr/>
        </p:nvSpPr>
        <p:spPr>
          <a:xfrm>
            <a:off x="822960" y="2075688"/>
            <a:ext cx="182880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preguntas golden</a:t>
            </a:r>
            <a:endParaRPr lang="en-US" sz="1250" dirty="0"/>
          </a:p>
        </p:txBody>
      </p:sp>
      <p:sp>
        <p:nvSpPr>
          <p:cNvPr id="9" name="Text 7"/>
          <p:cNvSpPr/>
          <p:nvPr/>
        </p:nvSpPr>
        <p:spPr>
          <a:xfrm>
            <a:off x="2834640" y="1508760"/>
            <a:ext cx="2743200" cy="502920"/>
          </a:xfrm>
          <a:prstGeom prst="rect">
            <a:avLst/>
          </a:prstGeom>
          <a:noFill/>
          <a:ln/>
        </p:spPr>
        <p:txBody>
          <a:bodyPr wrap="square" lIns="0" tIns="0" rIns="0" bIns="0" rtlCol="0" anchor="ctr">
            <a:normAutofit/>
          </a:bodyPr>
          <a:lstStyle/>
          <a:p>
            <a:pPr indent="0" marL="0">
              <a:buNone/>
            </a:pPr>
            <a:r>
              <a:rPr lang="en-US" sz="3100" b="1" dirty="0">
                <a:solidFill>
                  <a:srgbClr val="4F46E5"/>
                </a:solidFill>
              </a:rPr>
              <a:t>7/7/6</a:t>
            </a:r>
            <a:endParaRPr lang="en-US" sz="3100" dirty="0"/>
          </a:p>
        </p:txBody>
      </p:sp>
      <p:sp>
        <p:nvSpPr>
          <p:cNvPr id="10" name="Text 8"/>
          <p:cNvSpPr/>
          <p:nvPr/>
        </p:nvSpPr>
        <p:spPr>
          <a:xfrm>
            <a:off x="2834640" y="2075688"/>
            <a:ext cx="274320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numéricas · extractivas · comparativas</a:t>
            </a:r>
            <a:endParaRPr lang="en-US" sz="1250" dirty="0"/>
          </a:p>
        </p:txBody>
      </p:sp>
      <p:sp>
        <p:nvSpPr>
          <p:cNvPr id="11" name="Text 9"/>
          <p:cNvSpPr/>
          <p:nvPr/>
        </p:nvSpPr>
        <p:spPr>
          <a:xfrm>
            <a:off x="6080760" y="1508760"/>
            <a:ext cx="1828800" cy="502920"/>
          </a:xfrm>
          <a:prstGeom prst="rect">
            <a:avLst/>
          </a:prstGeom>
          <a:noFill/>
          <a:ln/>
        </p:spPr>
        <p:txBody>
          <a:bodyPr wrap="square" lIns="0" tIns="0" rIns="0" bIns="0" rtlCol="0" anchor="ctr">
            <a:normAutofit/>
          </a:bodyPr>
          <a:lstStyle/>
          <a:p>
            <a:pPr indent="0" marL="0">
              <a:buNone/>
            </a:pPr>
            <a:r>
              <a:rPr lang="en-US" sz="3100" b="1" dirty="0">
                <a:solidFill>
                  <a:srgbClr val="16A34A"/>
                </a:solidFill>
              </a:rPr>
              <a:t>3</a:t>
            </a:r>
            <a:endParaRPr lang="en-US" sz="3100" dirty="0"/>
          </a:p>
        </p:txBody>
      </p:sp>
      <p:sp>
        <p:nvSpPr>
          <p:cNvPr id="12" name="Text 10"/>
          <p:cNvSpPr/>
          <p:nvPr/>
        </p:nvSpPr>
        <p:spPr>
          <a:xfrm>
            <a:off x="6080760" y="2075688"/>
            <a:ext cx="182880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evaluadores principales</a:t>
            </a:r>
            <a:endParaRPr lang="en-US" sz="1250" dirty="0"/>
          </a:p>
        </p:txBody>
      </p:sp>
      <p:sp>
        <p:nvSpPr>
          <p:cNvPr id="13" name="Text 11"/>
          <p:cNvSpPr/>
          <p:nvPr/>
        </p:nvSpPr>
        <p:spPr>
          <a:xfrm>
            <a:off x="868680" y="3154680"/>
            <a:ext cx="2103120" cy="256032"/>
          </a:xfrm>
          <a:prstGeom prst="rect">
            <a:avLst/>
          </a:prstGeom>
          <a:noFill/>
          <a:ln/>
        </p:spPr>
        <p:txBody>
          <a:bodyPr wrap="square" lIns="0" tIns="0" rIns="0" bIns="0" rtlCol="0" anchor="ctr"/>
          <a:lstStyle/>
          <a:p>
            <a:pPr indent="0" marL="0">
              <a:buNone/>
            </a:pPr>
            <a:r>
              <a:rPr lang="en-US" sz="1600" b="1" dirty="0">
                <a:solidFill>
                  <a:srgbClr val="0F172A"/>
                </a:solidFill>
              </a:rPr>
              <a:t>Evaluadores</a:t>
            </a:r>
            <a:endParaRPr lang="en-US" sz="1600" dirty="0"/>
          </a:p>
        </p:txBody>
      </p:sp>
      <p:sp>
        <p:nvSpPr>
          <p:cNvPr id="14" name="Shape 12"/>
          <p:cNvSpPr/>
          <p:nvPr/>
        </p:nvSpPr>
        <p:spPr>
          <a:xfrm>
            <a:off x="914400" y="3703320"/>
            <a:ext cx="1600200" cy="621792"/>
          </a:xfrm>
          <a:prstGeom prst="roundRect">
            <a:avLst>
              <a:gd name="adj" fmla="val 8824"/>
            </a:avLst>
          </a:prstGeom>
          <a:solidFill>
            <a:srgbClr val="DBEAFE"/>
          </a:solidFill>
          <a:ln w="12700">
            <a:solidFill>
              <a:srgbClr val="DBEAFE"/>
            </a:solidFill>
            <a:prstDash val="solid"/>
          </a:ln>
        </p:spPr>
      </p:sp>
      <p:sp>
        <p:nvSpPr>
          <p:cNvPr id="15" name="Text 13"/>
          <p:cNvSpPr/>
          <p:nvPr/>
        </p:nvSpPr>
        <p:spPr>
          <a:xfrm>
            <a:off x="1024128" y="3867912"/>
            <a:ext cx="1380744" cy="256032"/>
          </a:xfrm>
          <a:prstGeom prst="rect">
            <a:avLst/>
          </a:prstGeom>
          <a:noFill/>
          <a:ln/>
        </p:spPr>
        <p:txBody>
          <a:bodyPr wrap="square" lIns="0" tIns="0" rIns="0" bIns="0" rtlCol="0" anchor="ctr">
            <a:normAutofit/>
          </a:bodyPr>
          <a:lstStyle/>
          <a:p>
            <a:pPr algn="ctr" indent="0" marL="0">
              <a:buNone/>
            </a:pPr>
            <a:r>
              <a:rPr lang="en-US" sz="1100" b="1" dirty="0">
                <a:solidFill>
                  <a:srgbClr val="2563EB"/>
                </a:solidFill>
              </a:rPr>
              <a:t>cita</a:t>
            </a:r>
            <a:endParaRPr lang="en-US" sz="1100" dirty="0"/>
          </a:p>
          <a:p>
            <a:pPr algn="ctr" indent="0" marL="0">
              <a:buNone/>
            </a:pPr>
            <a:r>
              <a:rPr lang="en-US" sz="1100" b="1" dirty="0">
                <a:solidFill>
                  <a:srgbClr val="2563EB"/>
                </a:solidFill>
              </a:rPr>
              <a:t>verificable</a:t>
            </a:r>
            <a:endParaRPr lang="en-US" sz="1100" dirty="0"/>
          </a:p>
        </p:txBody>
      </p:sp>
      <p:sp>
        <p:nvSpPr>
          <p:cNvPr id="16" name="Shape 14"/>
          <p:cNvSpPr/>
          <p:nvPr/>
        </p:nvSpPr>
        <p:spPr>
          <a:xfrm>
            <a:off x="2834640" y="3703320"/>
            <a:ext cx="1600200" cy="621792"/>
          </a:xfrm>
          <a:prstGeom prst="roundRect">
            <a:avLst>
              <a:gd name="adj" fmla="val 8824"/>
            </a:avLst>
          </a:prstGeom>
          <a:solidFill>
            <a:srgbClr val="DCFCE7"/>
          </a:solidFill>
          <a:ln w="12700">
            <a:solidFill>
              <a:srgbClr val="DCFCE7"/>
            </a:solidFill>
            <a:prstDash val="solid"/>
          </a:ln>
        </p:spPr>
      </p:sp>
      <p:sp>
        <p:nvSpPr>
          <p:cNvPr id="17" name="Text 15"/>
          <p:cNvSpPr/>
          <p:nvPr/>
        </p:nvSpPr>
        <p:spPr>
          <a:xfrm>
            <a:off x="2944368" y="3867912"/>
            <a:ext cx="1380744" cy="256032"/>
          </a:xfrm>
          <a:prstGeom prst="rect">
            <a:avLst/>
          </a:prstGeom>
          <a:noFill/>
          <a:ln/>
        </p:spPr>
        <p:txBody>
          <a:bodyPr wrap="square" lIns="0" tIns="0" rIns="0" bIns="0" rtlCol="0" anchor="ctr">
            <a:normAutofit/>
          </a:bodyPr>
          <a:lstStyle/>
          <a:p>
            <a:pPr algn="ctr" indent="0" marL="0">
              <a:buNone/>
            </a:pPr>
            <a:r>
              <a:rPr lang="en-US" sz="1100" b="1" dirty="0">
                <a:solidFill>
                  <a:srgbClr val="16A34A"/>
                </a:solidFill>
              </a:rPr>
              <a:t>cifra</a:t>
            </a:r>
            <a:endParaRPr lang="en-US" sz="1100" dirty="0"/>
          </a:p>
          <a:p>
            <a:pPr algn="ctr" indent="0" marL="0">
              <a:buNone/>
            </a:pPr>
            <a:r>
              <a:rPr lang="en-US" sz="1100" b="1" dirty="0">
                <a:solidFill>
                  <a:srgbClr val="16A34A"/>
                </a:solidFill>
              </a:rPr>
              <a:t>XBRL</a:t>
            </a:r>
            <a:endParaRPr lang="en-US" sz="1100" dirty="0"/>
          </a:p>
        </p:txBody>
      </p:sp>
      <p:sp>
        <p:nvSpPr>
          <p:cNvPr id="18" name="Shape 16"/>
          <p:cNvSpPr/>
          <p:nvPr/>
        </p:nvSpPr>
        <p:spPr>
          <a:xfrm>
            <a:off x="4754880" y="3703320"/>
            <a:ext cx="1600200" cy="621792"/>
          </a:xfrm>
          <a:prstGeom prst="roundRect">
            <a:avLst>
              <a:gd name="adj" fmla="val 8824"/>
            </a:avLst>
          </a:prstGeom>
          <a:solidFill>
            <a:srgbClr val="FEF3C7"/>
          </a:solidFill>
          <a:ln w="12700">
            <a:solidFill>
              <a:srgbClr val="FEF3C7"/>
            </a:solidFill>
            <a:prstDash val="solid"/>
          </a:ln>
        </p:spPr>
      </p:sp>
      <p:sp>
        <p:nvSpPr>
          <p:cNvPr id="19" name="Text 17"/>
          <p:cNvSpPr/>
          <p:nvPr/>
        </p:nvSpPr>
        <p:spPr>
          <a:xfrm>
            <a:off x="4864608" y="3867912"/>
            <a:ext cx="1380744" cy="256032"/>
          </a:xfrm>
          <a:prstGeom prst="rect">
            <a:avLst/>
          </a:prstGeom>
          <a:noFill/>
          <a:ln/>
        </p:spPr>
        <p:txBody>
          <a:bodyPr wrap="square" lIns="0" tIns="0" rIns="0" bIns="0" rtlCol="0" anchor="ctr">
            <a:normAutofit/>
          </a:bodyPr>
          <a:lstStyle/>
          <a:p>
            <a:pPr algn="ctr" indent="0" marL="0">
              <a:buNone/>
            </a:pPr>
            <a:r>
              <a:rPr lang="en-US" sz="1100" b="1" dirty="0">
                <a:solidFill>
                  <a:srgbClr val="D97706"/>
                </a:solidFill>
              </a:rPr>
              <a:t>tool</a:t>
            </a:r>
            <a:endParaRPr lang="en-US" sz="1100" dirty="0"/>
          </a:p>
          <a:p>
            <a:pPr algn="ctr" indent="0" marL="0">
              <a:buNone/>
            </a:pPr>
            <a:r>
              <a:rPr lang="en-US" sz="1100" b="1" dirty="0">
                <a:solidFill>
                  <a:srgbClr val="D97706"/>
                </a:solidFill>
              </a:rPr>
              <a:t>correcta</a:t>
            </a:r>
            <a:endParaRPr lang="en-US" sz="1100" dirty="0"/>
          </a:p>
        </p:txBody>
      </p:sp>
      <p:sp>
        <p:nvSpPr>
          <p:cNvPr id="20" name="Text 18"/>
          <p:cNvSpPr/>
          <p:nvPr/>
        </p:nvSpPr>
        <p:spPr>
          <a:xfrm>
            <a:off x="7086600" y="3154680"/>
            <a:ext cx="2834640" cy="256032"/>
          </a:xfrm>
          <a:prstGeom prst="rect">
            <a:avLst/>
          </a:prstGeom>
          <a:noFill/>
          <a:ln/>
        </p:spPr>
        <p:txBody>
          <a:bodyPr wrap="square" lIns="0" tIns="0" rIns="0" bIns="0" rtlCol="0" anchor="ctr"/>
          <a:lstStyle/>
          <a:p>
            <a:pPr indent="0" marL="0">
              <a:buNone/>
            </a:pPr>
            <a:r>
              <a:rPr lang="en-US" sz="1600" b="1" dirty="0">
                <a:solidFill>
                  <a:srgbClr val="0F172A"/>
                </a:solidFill>
              </a:rPr>
              <a:t>Métricas operativas</a:t>
            </a:r>
            <a:endParaRPr lang="en-US" sz="1600" dirty="0"/>
          </a:p>
        </p:txBody>
      </p:sp>
      <p:sp>
        <p:nvSpPr>
          <p:cNvPr id="21" name="Text 19"/>
          <p:cNvSpPr/>
          <p:nvPr/>
        </p:nvSpPr>
        <p:spPr>
          <a:xfrm>
            <a:off x="7086600" y="3721608"/>
            <a:ext cx="3566160" cy="502920"/>
          </a:xfrm>
          <a:prstGeom prst="rect">
            <a:avLst/>
          </a:prstGeom>
          <a:noFill/>
          <a:ln/>
        </p:spPr>
        <p:txBody>
          <a:bodyPr wrap="square" lIns="0" tIns="0" rIns="0" bIns="0" rtlCol="0" anchor="ctr">
            <a:normAutofit/>
          </a:bodyPr>
          <a:lstStyle/>
          <a:p>
            <a:pPr indent="0" marL="0">
              <a:buNone/>
            </a:pPr>
            <a:r>
              <a:rPr lang="en-US" sz="1400" dirty="0">
                <a:solidFill>
                  <a:srgbClr val="475569"/>
                </a:solidFill>
              </a:rPr>
              <a:t>coste · latencia · número de llamadas · recall@5</a:t>
            </a:r>
            <a:endParaRPr lang="en-US" sz="1400" dirty="0"/>
          </a:p>
        </p:txBody>
      </p:sp>
      <p:sp>
        <p:nvSpPr>
          <p:cNvPr id="22" name="Text 20"/>
          <p:cNvSpPr/>
          <p:nvPr/>
        </p:nvSpPr>
        <p:spPr>
          <a:xfrm>
            <a:off x="914400" y="5257800"/>
            <a:ext cx="9418320" cy="320040"/>
          </a:xfrm>
          <a:prstGeom prst="rect">
            <a:avLst/>
          </a:prstGeom>
          <a:noFill/>
          <a:ln/>
        </p:spPr>
        <p:txBody>
          <a:bodyPr wrap="square" lIns="0" tIns="0" rIns="0" bIns="0" rtlCol="0" anchor="ctr"/>
          <a:lstStyle/>
          <a:p>
            <a:pPr algn="ctr" indent="0" marL="0">
              <a:buNone/>
            </a:pPr>
            <a:r>
              <a:rPr lang="en-US" sz="1600" b="1" dirty="0">
                <a:solidFill>
                  <a:srgbClr val="0F172A"/>
                </a:solidFill>
              </a:rPr>
              <a:t>Esto nos permitió distinguir “ha acertado” de “ha acertado por casualidad”.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 · resultados</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6</a:t>
            </a:r>
            <a:endParaRPr lang="en-US" sz="850" dirty="0"/>
          </a:p>
        </p:txBody>
      </p:sp>
      <p:sp>
        <p:nvSpPr>
          <p:cNvPr id="5" name="Text 3"/>
          <p:cNvSpPr/>
          <p:nvPr/>
        </p:nvSpPr>
        <p:spPr>
          <a:xfrm>
            <a:off x="548640" y="411480"/>
            <a:ext cx="6949440" cy="457200"/>
          </a:xfrm>
          <a:prstGeom prst="rect">
            <a:avLst/>
          </a:prstGeom>
          <a:noFill/>
          <a:ln/>
        </p:spPr>
        <p:txBody>
          <a:bodyPr wrap="square" lIns="0" tIns="0" rIns="0" bIns="0" rtlCol="0" anchor="ctr">
            <a:normAutofit/>
          </a:bodyPr>
          <a:lstStyle/>
          <a:p>
            <a:pPr indent="0" marL="0">
              <a:buNone/>
            </a:pPr>
            <a:r>
              <a:rPr lang="en-US" sz="2500" b="1" dirty="0">
                <a:solidFill>
                  <a:srgbClr val="0F172A"/>
                </a:solidFill>
              </a:rPr>
              <a:t>Resultado final: mejor precisión y menor coste</a:t>
            </a:r>
            <a:endParaRPr lang="en-US" sz="2500" dirty="0"/>
          </a:p>
        </p:txBody>
      </p:sp>
      <p:sp>
        <p:nvSpPr>
          <p:cNvPr id="6" name="Text 4"/>
          <p:cNvSpPr/>
          <p:nvPr/>
        </p:nvSpPr>
        <p:spPr>
          <a:xfrm>
            <a:off x="548640" y="932688"/>
            <a:ext cx="7955280" cy="274320"/>
          </a:xfrm>
          <a:prstGeom prst="rect">
            <a:avLst/>
          </a:prstGeom>
          <a:noFill/>
          <a:ln/>
        </p:spPr>
        <p:txBody>
          <a:bodyPr wrap="square" lIns="0" tIns="0" rIns="0" bIns="0" rtlCol="0" anchor="ctr"/>
          <a:lstStyle/>
          <a:p>
            <a:pPr indent="0" marL="0">
              <a:buNone/>
            </a:pPr>
            <a:r>
              <a:rPr lang="en-US" sz="1150" dirty="0">
                <a:solidFill>
                  <a:srgbClr val="475569"/>
                </a:solidFill>
              </a:rPr>
              <a:t>Run all validado sobre el golden propio.</a:t>
            </a:r>
            <a:endParaRPr lang="en-US" sz="1150" dirty="0"/>
          </a:p>
        </p:txBody>
      </p:sp>
      <p:sp>
        <p:nvSpPr>
          <p:cNvPr id="7" name="Text 5"/>
          <p:cNvSpPr/>
          <p:nvPr/>
        </p:nvSpPr>
        <p:spPr>
          <a:xfrm>
            <a:off x="822960" y="1371600"/>
            <a:ext cx="2926080" cy="502920"/>
          </a:xfrm>
          <a:prstGeom prst="rect">
            <a:avLst/>
          </a:prstGeom>
          <a:noFill/>
          <a:ln/>
        </p:spPr>
        <p:txBody>
          <a:bodyPr wrap="square" lIns="0" tIns="0" rIns="0" bIns="0" rtlCol="0" anchor="ctr">
            <a:normAutofit/>
          </a:bodyPr>
          <a:lstStyle/>
          <a:p>
            <a:pPr indent="0" marL="0">
              <a:buNone/>
            </a:pPr>
            <a:r>
              <a:rPr lang="en-US" sz="3100" b="1" dirty="0">
                <a:solidFill>
                  <a:srgbClr val="16A34A"/>
                </a:solidFill>
              </a:rPr>
              <a:t>90% → 100%</a:t>
            </a:r>
            <a:endParaRPr lang="en-US" sz="3100" dirty="0"/>
          </a:p>
        </p:txBody>
      </p:sp>
      <p:sp>
        <p:nvSpPr>
          <p:cNvPr id="8" name="Text 6"/>
          <p:cNvSpPr/>
          <p:nvPr/>
        </p:nvSpPr>
        <p:spPr>
          <a:xfrm>
            <a:off x="822960" y="1938528"/>
            <a:ext cx="292608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accuracy baseline vs final</a:t>
            </a:r>
            <a:endParaRPr lang="en-US" sz="1250" dirty="0"/>
          </a:p>
        </p:txBody>
      </p:sp>
      <p:sp>
        <p:nvSpPr>
          <p:cNvPr id="9" name="Text 7"/>
          <p:cNvSpPr/>
          <p:nvPr/>
        </p:nvSpPr>
        <p:spPr>
          <a:xfrm>
            <a:off x="3886200" y="1371600"/>
            <a:ext cx="3017520" cy="502920"/>
          </a:xfrm>
          <a:prstGeom prst="rect">
            <a:avLst/>
          </a:prstGeom>
          <a:noFill/>
          <a:ln/>
        </p:spPr>
        <p:txBody>
          <a:bodyPr wrap="square" lIns="0" tIns="0" rIns="0" bIns="0" rtlCol="0" anchor="ctr">
            <a:normAutofit/>
          </a:bodyPr>
          <a:lstStyle/>
          <a:p>
            <a:pPr indent="0" marL="0">
              <a:buNone/>
            </a:pPr>
            <a:r>
              <a:rPr lang="en-US" sz="3100" b="1" dirty="0">
                <a:solidFill>
                  <a:srgbClr val="2563EB"/>
                </a:solidFill>
              </a:rPr>
              <a:t>$0.0170 → $0.0122</a:t>
            </a:r>
            <a:endParaRPr lang="en-US" sz="3100" dirty="0"/>
          </a:p>
        </p:txBody>
      </p:sp>
      <p:sp>
        <p:nvSpPr>
          <p:cNvPr id="10" name="Text 8"/>
          <p:cNvSpPr/>
          <p:nvPr/>
        </p:nvSpPr>
        <p:spPr>
          <a:xfrm>
            <a:off x="3886200" y="1938528"/>
            <a:ext cx="301752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coste medio por pregunta</a:t>
            </a:r>
            <a:endParaRPr lang="en-US" sz="1250" dirty="0"/>
          </a:p>
        </p:txBody>
      </p:sp>
      <p:sp>
        <p:nvSpPr>
          <p:cNvPr id="11" name="Text 9"/>
          <p:cNvSpPr/>
          <p:nvPr/>
        </p:nvSpPr>
        <p:spPr>
          <a:xfrm>
            <a:off x="7406640" y="1371600"/>
            <a:ext cx="2468880" cy="502920"/>
          </a:xfrm>
          <a:prstGeom prst="rect">
            <a:avLst/>
          </a:prstGeom>
          <a:noFill/>
          <a:ln/>
        </p:spPr>
        <p:txBody>
          <a:bodyPr wrap="square" lIns="0" tIns="0" rIns="0" bIns="0" rtlCol="0" anchor="ctr">
            <a:normAutofit/>
          </a:bodyPr>
          <a:lstStyle/>
          <a:p>
            <a:pPr indent="0" marL="0">
              <a:buNone/>
            </a:pPr>
            <a:r>
              <a:rPr lang="en-US" sz="3100" b="1" dirty="0">
                <a:solidFill>
                  <a:srgbClr val="4F46E5"/>
                </a:solidFill>
              </a:rPr>
              <a:t>10.63s → 8.73s</a:t>
            </a:r>
            <a:endParaRPr lang="en-US" sz="3100" dirty="0"/>
          </a:p>
        </p:txBody>
      </p:sp>
      <p:sp>
        <p:nvSpPr>
          <p:cNvPr id="12" name="Text 10"/>
          <p:cNvSpPr/>
          <p:nvPr/>
        </p:nvSpPr>
        <p:spPr>
          <a:xfrm>
            <a:off x="7406640" y="1938528"/>
            <a:ext cx="246888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latencia media</a:t>
            </a:r>
            <a:endParaRPr lang="en-US" sz="1250" dirty="0"/>
          </a:p>
        </p:txBody>
      </p:sp>
      <p:sp>
        <p:nvSpPr>
          <p:cNvPr id="13" name="Text 11"/>
          <p:cNvSpPr/>
          <p:nvPr/>
        </p:nvSpPr>
        <p:spPr>
          <a:xfrm>
            <a:off x="868680" y="3127248"/>
            <a:ext cx="1828800" cy="256032"/>
          </a:xfrm>
          <a:prstGeom prst="rect">
            <a:avLst/>
          </a:prstGeom>
          <a:noFill/>
          <a:ln/>
        </p:spPr>
        <p:txBody>
          <a:bodyPr wrap="square" lIns="0" tIns="0" rIns="0" bIns="0" rtlCol="0" anchor="ctr"/>
          <a:lstStyle/>
          <a:p>
            <a:pPr indent="0" marL="0">
              <a:buNone/>
            </a:pPr>
            <a:r>
              <a:rPr lang="en-US" sz="1600" b="1" dirty="0">
                <a:solidFill>
                  <a:srgbClr val="0F172A"/>
                </a:solidFill>
              </a:rPr>
              <a:t>Por familias</a:t>
            </a:r>
            <a:endParaRPr lang="en-US" sz="1600" dirty="0"/>
          </a:p>
        </p:txBody>
      </p:sp>
      <p:sp>
        <p:nvSpPr>
          <p:cNvPr id="14" name="Text 12"/>
          <p:cNvSpPr/>
          <p:nvPr/>
        </p:nvSpPr>
        <p:spPr>
          <a:xfrm>
            <a:off x="914400" y="3502152"/>
            <a:ext cx="1828800" cy="201168"/>
          </a:xfrm>
          <a:prstGeom prst="rect">
            <a:avLst/>
          </a:prstGeom>
          <a:noFill/>
          <a:ln/>
        </p:spPr>
        <p:txBody>
          <a:bodyPr wrap="square" lIns="0" tIns="0" rIns="0" bIns="0" rtlCol="0" anchor="ctr"/>
          <a:lstStyle/>
          <a:p>
            <a:pPr indent="0" marL="0">
              <a:buNone/>
            </a:pPr>
            <a:r>
              <a:rPr lang="en-US" sz="1050" b="1" dirty="0">
                <a:solidFill>
                  <a:srgbClr val="475569"/>
                </a:solidFill>
              </a:rPr>
              <a:t>Familia</a:t>
            </a:r>
            <a:endParaRPr lang="en-US" sz="1050" dirty="0"/>
          </a:p>
        </p:txBody>
      </p:sp>
      <p:sp>
        <p:nvSpPr>
          <p:cNvPr id="15" name="Text 13"/>
          <p:cNvSpPr/>
          <p:nvPr/>
        </p:nvSpPr>
        <p:spPr>
          <a:xfrm>
            <a:off x="2926080" y="3502152"/>
            <a:ext cx="1097280" cy="201168"/>
          </a:xfrm>
          <a:prstGeom prst="rect">
            <a:avLst/>
          </a:prstGeom>
          <a:noFill/>
          <a:ln/>
        </p:spPr>
        <p:txBody>
          <a:bodyPr wrap="square" lIns="0" tIns="0" rIns="0" bIns="0" rtlCol="0" anchor="ctr"/>
          <a:lstStyle/>
          <a:p>
            <a:pPr algn="ctr" indent="0" marL="0">
              <a:buNone/>
            </a:pPr>
            <a:r>
              <a:rPr lang="en-US" sz="1050" b="1" dirty="0">
                <a:solidFill>
                  <a:srgbClr val="475569"/>
                </a:solidFill>
              </a:rPr>
              <a:t>Baseline</a:t>
            </a:r>
            <a:endParaRPr lang="en-US" sz="1050" dirty="0"/>
          </a:p>
        </p:txBody>
      </p:sp>
      <p:sp>
        <p:nvSpPr>
          <p:cNvPr id="16" name="Text 14"/>
          <p:cNvSpPr/>
          <p:nvPr/>
        </p:nvSpPr>
        <p:spPr>
          <a:xfrm>
            <a:off x="4251960" y="3502152"/>
            <a:ext cx="914400" cy="201168"/>
          </a:xfrm>
          <a:prstGeom prst="rect">
            <a:avLst/>
          </a:prstGeom>
          <a:noFill/>
          <a:ln/>
        </p:spPr>
        <p:txBody>
          <a:bodyPr wrap="square" lIns="0" tIns="0" rIns="0" bIns="0" rtlCol="0" anchor="ctr"/>
          <a:lstStyle/>
          <a:p>
            <a:pPr algn="ctr" indent="0" marL="0">
              <a:buNone/>
            </a:pPr>
            <a:r>
              <a:rPr lang="en-US" sz="1050" b="1" dirty="0">
                <a:solidFill>
                  <a:srgbClr val="16A34A"/>
                </a:solidFill>
              </a:rPr>
              <a:t>Final</a:t>
            </a:r>
            <a:endParaRPr lang="en-US" sz="1050" dirty="0"/>
          </a:p>
        </p:txBody>
      </p:sp>
      <p:sp>
        <p:nvSpPr>
          <p:cNvPr id="17" name="Text 15"/>
          <p:cNvSpPr/>
          <p:nvPr/>
        </p:nvSpPr>
        <p:spPr>
          <a:xfrm>
            <a:off x="914400" y="3822192"/>
            <a:ext cx="1920240" cy="228600"/>
          </a:xfrm>
          <a:prstGeom prst="rect">
            <a:avLst/>
          </a:prstGeom>
          <a:noFill/>
          <a:ln/>
        </p:spPr>
        <p:txBody>
          <a:bodyPr wrap="square" lIns="0" tIns="0" rIns="0" bIns="0" rtlCol="0" anchor="ctr"/>
          <a:lstStyle/>
          <a:p>
            <a:pPr indent="0" marL="0">
              <a:buNone/>
            </a:pPr>
            <a:r>
              <a:rPr lang="en-US" sz="1250" b="1" dirty="0">
                <a:solidFill>
                  <a:srgbClr val="0F172A"/>
                </a:solidFill>
              </a:rPr>
              <a:t>Numéricas</a:t>
            </a:r>
            <a:endParaRPr lang="en-US" sz="1250" dirty="0"/>
          </a:p>
        </p:txBody>
      </p:sp>
      <p:sp>
        <p:nvSpPr>
          <p:cNvPr id="18" name="Text 16"/>
          <p:cNvSpPr/>
          <p:nvPr/>
        </p:nvSpPr>
        <p:spPr>
          <a:xfrm>
            <a:off x="2926080" y="3822192"/>
            <a:ext cx="1097280" cy="228600"/>
          </a:xfrm>
          <a:prstGeom prst="rect">
            <a:avLst/>
          </a:prstGeom>
          <a:noFill/>
          <a:ln/>
        </p:spPr>
        <p:txBody>
          <a:bodyPr wrap="square" lIns="0" tIns="0" rIns="0" bIns="0" rtlCol="0" anchor="ctr"/>
          <a:lstStyle/>
          <a:p>
            <a:pPr algn="ctr" indent="0" marL="0">
              <a:buNone/>
            </a:pPr>
            <a:r>
              <a:rPr lang="en-US" sz="1250" dirty="0">
                <a:solidFill>
                  <a:srgbClr val="475569"/>
                </a:solidFill>
              </a:rPr>
              <a:t>5/7</a:t>
            </a:r>
            <a:endParaRPr lang="en-US" sz="1250" dirty="0"/>
          </a:p>
        </p:txBody>
      </p:sp>
      <p:sp>
        <p:nvSpPr>
          <p:cNvPr id="19" name="Text 17"/>
          <p:cNvSpPr/>
          <p:nvPr/>
        </p:nvSpPr>
        <p:spPr>
          <a:xfrm>
            <a:off x="4251960" y="3822192"/>
            <a:ext cx="914400" cy="228600"/>
          </a:xfrm>
          <a:prstGeom prst="rect">
            <a:avLst/>
          </a:prstGeom>
          <a:noFill/>
          <a:ln/>
        </p:spPr>
        <p:txBody>
          <a:bodyPr wrap="square" lIns="0" tIns="0" rIns="0" bIns="0" rtlCol="0" anchor="ctr"/>
          <a:lstStyle/>
          <a:p>
            <a:pPr algn="ctr" indent="0" marL="0">
              <a:buNone/>
            </a:pPr>
            <a:r>
              <a:rPr lang="en-US" sz="1250" b="1" dirty="0">
                <a:solidFill>
                  <a:srgbClr val="16A34A"/>
                </a:solidFill>
              </a:rPr>
              <a:t>7/7</a:t>
            </a:r>
            <a:endParaRPr lang="en-US" sz="1250" dirty="0"/>
          </a:p>
        </p:txBody>
      </p:sp>
      <p:sp>
        <p:nvSpPr>
          <p:cNvPr id="20" name="Text 18"/>
          <p:cNvSpPr/>
          <p:nvPr/>
        </p:nvSpPr>
        <p:spPr>
          <a:xfrm>
            <a:off x="914400" y="4389120"/>
            <a:ext cx="1920240" cy="228600"/>
          </a:xfrm>
          <a:prstGeom prst="rect">
            <a:avLst/>
          </a:prstGeom>
          <a:noFill/>
          <a:ln/>
        </p:spPr>
        <p:txBody>
          <a:bodyPr wrap="square" lIns="0" tIns="0" rIns="0" bIns="0" rtlCol="0" anchor="ctr"/>
          <a:lstStyle/>
          <a:p>
            <a:pPr indent="0" marL="0">
              <a:buNone/>
            </a:pPr>
            <a:r>
              <a:rPr lang="en-US" sz="1250" b="1" dirty="0">
                <a:solidFill>
                  <a:srgbClr val="0F172A"/>
                </a:solidFill>
              </a:rPr>
              <a:t>Extractivas</a:t>
            </a:r>
            <a:endParaRPr lang="en-US" sz="1250" dirty="0"/>
          </a:p>
        </p:txBody>
      </p:sp>
      <p:sp>
        <p:nvSpPr>
          <p:cNvPr id="21" name="Text 19"/>
          <p:cNvSpPr/>
          <p:nvPr/>
        </p:nvSpPr>
        <p:spPr>
          <a:xfrm>
            <a:off x="2926080" y="4389120"/>
            <a:ext cx="1097280" cy="228600"/>
          </a:xfrm>
          <a:prstGeom prst="rect">
            <a:avLst/>
          </a:prstGeom>
          <a:noFill/>
          <a:ln/>
        </p:spPr>
        <p:txBody>
          <a:bodyPr wrap="square" lIns="0" tIns="0" rIns="0" bIns="0" rtlCol="0" anchor="ctr"/>
          <a:lstStyle/>
          <a:p>
            <a:pPr algn="ctr" indent="0" marL="0">
              <a:buNone/>
            </a:pPr>
            <a:r>
              <a:rPr lang="en-US" sz="1250" dirty="0">
                <a:solidFill>
                  <a:srgbClr val="475569"/>
                </a:solidFill>
              </a:rPr>
              <a:t>7/7</a:t>
            </a:r>
            <a:endParaRPr lang="en-US" sz="1250" dirty="0"/>
          </a:p>
        </p:txBody>
      </p:sp>
      <p:sp>
        <p:nvSpPr>
          <p:cNvPr id="22" name="Text 20"/>
          <p:cNvSpPr/>
          <p:nvPr/>
        </p:nvSpPr>
        <p:spPr>
          <a:xfrm>
            <a:off x="4251960" y="4389120"/>
            <a:ext cx="914400" cy="228600"/>
          </a:xfrm>
          <a:prstGeom prst="rect">
            <a:avLst/>
          </a:prstGeom>
          <a:noFill/>
          <a:ln/>
        </p:spPr>
        <p:txBody>
          <a:bodyPr wrap="square" lIns="0" tIns="0" rIns="0" bIns="0" rtlCol="0" anchor="ctr"/>
          <a:lstStyle/>
          <a:p>
            <a:pPr algn="ctr" indent="0" marL="0">
              <a:buNone/>
            </a:pPr>
            <a:r>
              <a:rPr lang="en-US" sz="1250" b="1" dirty="0">
                <a:solidFill>
                  <a:srgbClr val="16A34A"/>
                </a:solidFill>
              </a:rPr>
              <a:t>7/7</a:t>
            </a:r>
            <a:endParaRPr lang="en-US" sz="1250" dirty="0"/>
          </a:p>
        </p:txBody>
      </p:sp>
      <p:sp>
        <p:nvSpPr>
          <p:cNvPr id="23" name="Text 21"/>
          <p:cNvSpPr/>
          <p:nvPr/>
        </p:nvSpPr>
        <p:spPr>
          <a:xfrm>
            <a:off x="914400" y="4956048"/>
            <a:ext cx="1920240" cy="228600"/>
          </a:xfrm>
          <a:prstGeom prst="rect">
            <a:avLst/>
          </a:prstGeom>
          <a:noFill/>
          <a:ln/>
        </p:spPr>
        <p:txBody>
          <a:bodyPr wrap="square" lIns="0" tIns="0" rIns="0" bIns="0" rtlCol="0" anchor="ctr"/>
          <a:lstStyle/>
          <a:p>
            <a:pPr indent="0" marL="0">
              <a:buNone/>
            </a:pPr>
            <a:r>
              <a:rPr lang="en-US" sz="1250" b="1" dirty="0">
                <a:solidFill>
                  <a:srgbClr val="0F172A"/>
                </a:solidFill>
              </a:rPr>
              <a:t>Comparativas</a:t>
            </a:r>
            <a:endParaRPr lang="en-US" sz="1250" dirty="0"/>
          </a:p>
        </p:txBody>
      </p:sp>
      <p:sp>
        <p:nvSpPr>
          <p:cNvPr id="24" name="Text 22"/>
          <p:cNvSpPr/>
          <p:nvPr/>
        </p:nvSpPr>
        <p:spPr>
          <a:xfrm>
            <a:off x="2926080" y="4956048"/>
            <a:ext cx="1097280" cy="228600"/>
          </a:xfrm>
          <a:prstGeom prst="rect">
            <a:avLst/>
          </a:prstGeom>
          <a:noFill/>
          <a:ln/>
        </p:spPr>
        <p:txBody>
          <a:bodyPr wrap="square" lIns="0" tIns="0" rIns="0" bIns="0" rtlCol="0" anchor="ctr"/>
          <a:lstStyle/>
          <a:p>
            <a:pPr algn="ctr" indent="0" marL="0">
              <a:buNone/>
            </a:pPr>
            <a:r>
              <a:rPr lang="en-US" sz="1250" dirty="0">
                <a:solidFill>
                  <a:srgbClr val="475569"/>
                </a:solidFill>
              </a:rPr>
              <a:t>6/6</a:t>
            </a:r>
            <a:endParaRPr lang="en-US" sz="1250" dirty="0"/>
          </a:p>
        </p:txBody>
      </p:sp>
      <p:sp>
        <p:nvSpPr>
          <p:cNvPr id="25" name="Text 23"/>
          <p:cNvSpPr/>
          <p:nvPr/>
        </p:nvSpPr>
        <p:spPr>
          <a:xfrm>
            <a:off x="4251960" y="4956048"/>
            <a:ext cx="914400" cy="228600"/>
          </a:xfrm>
          <a:prstGeom prst="rect">
            <a:avLst/>
          </a:prstGeom>
          <a:noFill/>
          <a:ln/>
        </p:spPr>
        <p:txBody>
          <a:bodyPr wrap="square" lIns="0" tIns="0" rIns="0" bIns="0" rtlCol="0" anchor="ctr"/>
          <a:lstStyle/>
          <a:p>
            <a:pPr algn="ctr" indent="0" marL="0">
              <a:buNone/>
            </a:pPr>
            <a:r>
              <a:rPr lang="en-US" sz="1250" b="1" dirty="0">
                <a:solidFill>
                  <a:srgbClr val="16A34A"/>
                </a:solidFill>
              </a:rPr>
              <a:t>6/6</a:t>
            </a:r>
            <a:endParaRPr lang="en-US" sz="1250" dirty="0"/>
          </a:p>
        </p:txBody>
      </p:sp>
      <p:sp>
        <p:nvSpPr>
          <p:cNvPr id="26" name="Text 24"/>
          <p:cNvSpPr/>
          <p:nvPr/>
        </p:nvSpPr>
        <p:spPr>
          <a:xfrm>
            <a:off x="6583680" y="3429000"/>
            <a:ext cx="3840480" cy="914400"/>
          </a:xfrm>
          <a:prstGeom prst="rect">
            <a:avLst/>
          </a:prstGeom>
          <a:noFill/>
          <a:ln/>
        </p:spPr>
        <p:txBody>
          <a:bodyPr wrap="square" lIns="0" tIns="0" rIns="0" bIns="0" rtlCol="0" anchor="ctr">
            <a:normAutofit/>
          </a:bodyPr>
          <a:lstStyle/>
          <a:p>
            <a:pPr indent="0" marL="0">
              <a:buNone/>
            </a:pPr>
            <a:r>
              <a:rPr lang="en-US" sz="1900" b="1" dirty="0">
                <a:solidFill>
                  <a:srgbClr val="0F172A"/>
                </a:solidFill>
              </a:rPr>
              <a:t>La mejora no vino de “meter más contexto”, sino de elegir mejor las fuentes y exigir trazabilidad.</a:t>
            </a:r>
            <a:endParaRPr lang="en-US" sz="1900" dirty="0"/>
          </a:p>
        </p:txBody>
      </p:sp>
      <p:sp>
        <p:nvSpPr>
          <p:cNvPr id="27" name="Text 25"/>
          <p:cNvSpPr/>
          <p:nvPr/>
        </p:nvSpPr>
        <p:spPr>
          <a:xfrm>
            <a:off x="6583680" y="4617720"/>
            <a:ext cx="4023360" cy="320040"/>
          </a:xfrm>
          <a:prstGeom prst="rect">
            <a:avLst/>
          </a:prstGeom>
          <a:noFill/>
          <a:ln/>
        </p:spPr>
        <p:txBody>
          <a:bodyPr wrap="square" lIns="0" tIns="0" rIns="0" bIns="0" rtlCol="0" anchor="ctr"/>
          <a:lstStyle/>
          <a:p>
            <a:pPr indent="0" marL="0">
              <a:buNone/>
            </a:pPr>
            <a:r>
              <a:rPr lang="en-US" sz="1350" dirty="0">
                <a:solidFill>
                  <a:srgbClr val="475569"/>
                </a:solidFill>
              </a:rPr>
              <a:t>Además bajaron las llamadas/pregunta: 5,30 → 4,05.</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 · hallazgo</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7</a:t>
            </a:r>
            <a:endParaRPr lang="en-US" sz="850" dirty="0"/>
          </a:p>
        </p:txBody>
      </p:sp>
      <p:sp>
        <p:nvSpPr>
          <p:cNvPr id="5" name="Text 3"/>
          <p:cNvSpPr/>
          <p:nvPr/>
        </p:nvSpPr>
        <p:spPr>
          <a:xfrm>
            <a:off x="548640" y="411480"/>
            <a:ext cx="6949440" cy="457200"/>
          </a:xfrm>
          <a:prstGeom prst="rect">
            <a:avLst/>
          </a:prstGeom>
          <a:noFill/>
          <a:ln/>
        </p:spPr>
        <p:txBody>
          <a:bodyPr wrap="square" lIns="0" tIns="0" rIns="0" bIns="0" rtlCol="0" anchor="ctr">
            <a:normAutofit/>
          </a:bodyPr>
          <a:lstStyle/>
          <a:p>
            <a:pPr indent="0" marL="0">
              <a:buNone/>
            </a:pPr>
            <a:r>
              <a:rPr lang="en-US" sz="2500" b="1" dirty="0">
                <a:solidFill>
                  <a:srgbClr val="0F172A"/>
                </a:solidFill>
              </a:rPr>
              <a:t>Hallazgo: recall@5 no explica todo el sistema</a:t>
            </a:r>
            <a:endParaRPr lang="en-US" sz="2500" dirty="0"/>
          </a:p>
        </p:txBody>
      </p:sp>
      <p:sp>
        <p:nvSpPr>
          <p:cNvPr id="6" name="Text 4"/>
          <p:cNvSpPr/>
          <p:nvPr/>
        </p:nvSpPr>
        <p:spPr>
          <a:xfrm>
            <a:off x="548640" y="932688"/>
            <a:ext cx="7955280" cy="274320"/>
          </a:xfrm>
          <a:prstGeom prst="rect">
            <a:avLst/>
          </a:prstGeom>
          <a:noFill/>
          <a:ln/>
        </p:spPr>
        <p:txBody>
          <a:bodyPr wrap="square" lIns="0" tIns="0" rIns="0" bIns="0" rtlCol="0" anchor="ctr"/>
          <a:lstStyle/>
          <a:p>
            <a:pPr indent="0" marL="0">
              <a:buNone/>
            </a:pPr>
            <a:r>
              <a:rPr lang="en-US" sz="1150" dirty="0">
                <a:solidFill>
                  <a:srgbClr val="475569"/>
                </a:solidFill>
              </a:rPr>
              <a:t>El retriever aislado baja, pero el agente end-to-end mejora.</a:t>
            </a:r>
            <a:endParaRPr lang="en-US" sz="1150" dirty="0"/>
          </a:p>
        </p:txBody>
      </p:sp>
      <p:sp>
        <p:nvSpPr>
          <p:cNvPr id="7" name="Text 5"/>
          <p:cNvSpPr/>
          <p:nvPr/>
        </p:nvSpPr>
        <p:spPr>
          <a:xfrm>
            <a:off x="914400" y="1508760"/>
            <a:ext cx="2560320" cy="256032"/>
          </a:xfrm>
          <a:prstGeom prst="rect">
            <a:avLst/>
          </a:prstGeom>
          <a:noFill/>
          <a:ln/>
        </p:spPr>
        <p:txBody>
          <a:bodyPr wrap="square" lIns="0" tIns="0" rIns="0" bIns="0" rtlCol="0" anchor="ctr"/>
          <a:lstStyle/>
          <a:p>
            <a:pPr indent="0" marL="0">
              <a:buNone/>
            </a:pPr>
            <a:r>
              <a:rPr lang="en-US" sz="1700" b="1" dirty="0">
                <a:solidFill>
                  <a:srgbClr val="0F172A"/>
                </a:solidFill>
              </a:rPr>
              <a:t>Recall@5 aislado</a:t>
            </a:r>
            <a:endParaRPr lang="en-US" sz="1700" dirty="0"/>
          </a:p>
        </p:txBody>
      </p:sp>
      <p:sp>
        <p:nvSpPr>
          <p:cNvPr id="8" name="Text 6"/>
          <p:cNvSpPr/>
          <p:nvPr/>
        </p:nvSpPr>
        <p:spPr>
          <a:xfrm>
            <a:off x="914400" y="1965960"/>
            <a:ext cx="2743200" cy="502920"/>
          </a:xfrm>
          <a:prstGeom prst="rect">
            <a:avLst/>
          </a:prstGeom>
          <a:noFill/>
          <a:ln/>
        </p:spPr>
        <p:txBody>
          <a:bodyPr wrap="square" lIns="0" tIns="0" rIns="0" bIns="0" rtlCol="0" anchor="ctr">
            <a:normAutofit/>
          </a:bodyPr>
          <a:lstStyle/>
          <a:p>
            <a:pPr indent="0" marL="0">
              <a:buNone/>
            </a:pPr>
            <a:r>
              <a:rPr lang="en-US" sz="3100" b="1" dirty="0">
                <a:solidFill>
                  <a:srgbClr val="D97706"/>
                </a:solidFill>
              </a:rPr>
              <a:t>69.2% → 61.5%</a:t>
            </a:r>
            <a:endParaRPr lang="en-US" sz="3100" dirty="0"/>
          </a:p>
        </p:txBody>
      </p:sp>
      <p:sp>
        <p:nvSpPr>
          <p:cNvPr id="9" name="Text 7"/>
          <p:cNvSpPr/>
          <p:nvPr/>
        </p:nvSpPr>
        <p:spPr>
          <a:xfrm>
            <a:off x="914400" y="2532888"/>
            <a:ext cx="274320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baseline vs final</a:t>
            </a:r>
            <a:endParaRPr lang="en-US" sz="1250" dirty="0"/>
          </a:p>
        </p:txBody>
      </p:sp>
      <p:sp>
        <p:nvSpPr>
          <p:cNvPr id="10" name="Text 8"/>
          <p:cNvSpPr/>
          <p:nvPr/>
        </p:nvSpPr>
        <p:spPr>
          <a:xfrm>
            <a:off x="6035040" y="1508760"/>
            <a:ext cx="2560320" cy="256032"/>
          </a:xfrm>
          <a:prstGeom prst="rect">
            <a:avLst/>
          </a:prstGeom>
          <a:noFill/>
          <a:ln/>
        </p:spPr>
        <p:txBody>
          <a:bodyPr wrap="square" lIns="0" tIns="0" rIns="0" bIns="0" rtlCol="0" anchor="ctr"/>
          <a:lstStyle/>
          <a:p>
            <a:pPr indent="0" marL="0">
              <a:buNone/>
            </a:pPr>
            <a:r>
              <a:rPr lang="en-US" sz="1700" b="1" dirty="0">
                <a:solidFill>
                  <a:srgbClr val="0F172A"/>
                </a:solidFill>
              </a:rPr>
              <a:t>Accuracy end-to-end</a:t>
            </a:r>
            <a:endParaRPr lang="en-US" sz="1700" dirty="0"/>
          </a:p>
        </p:txBody>
      </p:sp>
      <p:sp>
        <p:nvSpPr>
          <p:cNvPr id="11" name="Text 9"/>
          <p:cNvSpPr/>
          <p:nvPr/>
        </p:nvSpPr>
        <p:spPr>
          <a:xfrm>
            <a:off x="6035040" y="1965960"/>
            <a:ext cx="2743200" cy="502920"/>
          </a:xfrm>
          <a:prstGeom prst="rect">
            <a:avLst/>
          </a:prstGeom>
          <a:noFill/>
          <a:ln/>
        </p:spPr>
        <p:txBody>
          <a:bodyPr wrap="square" lIns="0" tIns="0" rIns="0" bIns="0" rtlCol="0" anchor="ctr">
            <a:normAutofit/>
          </a:bodyPr>
          <a:lstStyle/>
          <a:p>
            <a:pPr indent="0" marL="0">
              <a:buNone/>
            </a:pPr>
            <a:r>
              <a:rPr lang="en-US" sz="3100" b="1" dirty="0">
                <a:solidFill>
                  <a:srgbClr val="16A34A"/>
                </a:solidFill>
              </a:rPr>
              <a:t>90% → 100%</a:t>
            </a:r>
            <a:endParaRPr lang="en-US" sz="3100" dirty="0"/>
          </a:p>
        </p:txBody>
      </p:sp>
      <p:sp>
        <p:nvSpPr>
          <p:cNvPr id="12" name="Text 10"/>
          <p:cNvSpPr/>
          <p:nvPr/>
        </p:nvSpPr>
        <p:spPr>
          <a:xfrm>
            <a:off x="6035040" y="2532888"/>
            <a:ext cx="274320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baseline vs final</a:t>
            </a:r>
            <a:endParaRPr lang="en-US" sz="1250" dirty="0"/>
          </a:p>
        </p:txBody>
      </p:sp>
      <p:sp>
        <p:nvSpPr>
          <p:cNvPr id="13" name="Shape 11"/>
          <p:cNvSpPr/>
          <p:nvPr/>
        </p:nvSpPr>
        <p:spPr>
          <a:xfrm>
            <a:off x="4023360" y="2496312"/>
            <a:ext cx="1325880" cy="0"/>
          </a:xfrm>
          <a:prstGeom prst="line">
            <a:avLst/>
          </a:prstGeom>
          <a:noFill/>
          <a:ln w="19050">
            <a:solidFill>
              <a:srgbClr val="475569"/>
            </a:solidFill>
            <a:prstDash val="solid"/>
            <a:headEnd type="none"/>
            <a:tailEnd type="triangle"/>
          </a:ln>
        </p:spPr>
      </p:sp>
      <p:sp>
        <p:nvSpPr>
          <p:cNvPr id="14" name="Shape 12"/>
          <p:cNvSpPr/>
          <p:nvPr/>
        </p:nvSpPr>
        <p:spPr>
          <a:xfrm>
            <a:off x="1874520" y="4069080"/>
            <a:ext cx="7223760" cy="960120"/>
          </a:xfrm>
          <a:prstGeom prst="roundRect">
            <a:avLst>
              <a:gd name="adj" fmla="val 7619"/>
            </a:avLst>
          </a:prstGeom>
          <a:solidFill>
            <a:srgbClr val="FFFFFF"/>
          </a:solidFill>
          <a:ln w="13970">
            <a:solidFill>
              <a:srgbClr val="2563EB"/>
            </a:solidFill>
            <a:prstDash val="solid"/>
          </a:ln>
        </p:spPr>
      </p:sp>
      <p:sp>
        <p:nvSpPr>
          <p:cNvPr id="15" name="Text 13"/>
          <p:cNvSpPr/>
          <p:nvPr/>
        </p:nvSpPr>
        <p:spPr>
          <a:xfrm>
            <a:off x="2039112" y="4206240"/>
            <a:ext cx="6894576" cy="758952"/>
          </a:xfrm>
          <a:prstGeom prst="rect">
            <a:avLst/>
          </a:prstGeom>
          <a:noFill/>
          <a:ln/>
        </p:spPr>
        <p:txBody>
          <a:bodyPr wrap="square" lIns="381" tIns="381" rIns="381" bIns="381" rtlCol="0" anchor="ctr">
            <a:normAutofit/>
          </a:bodyPr>
          <a:lstStyle/>
          <a:p>
            <a:pPr indent="0" marL="0">
              <a:buNone/>
            </a:pPr>
            <a:r>
              <a:rPr lang="en-US" sz="1250" dirty="0">
                <a:solidFill>
                  <a:srgbClr val="0F172A"/>
                </a:solidFill>
              </a:rPr>
              <a:t>La métrica de retrieval prueba una única consulta. El agente puede reformular, iterar y combinar XBRL + texto.</a:t>
            </a:r>
            <a:endParaRPr lang="en-US" sz="1250" dirty="0"/>
          </a:p>
        </p:txBody>
      </p:sp>
      <p:sp>
        <p:nvSpPr>
          <p:cNvPr id="16" name="Text 14"/>
          <p:cNvSpPr/>
          <p:nvPr/>
        </p:nvSpPr>
        <p:spPr>
          <a:xfrm>
            <a:off x="914400" y="5486400"/>
            <a:ext cx="9784080" cy="320040"/>
          </a:xfrm>
          <a:prstGeom prst="rect">
            <a:avLst/>
          </a:prstGeom>
          <a:noFill/>
          <a:ln/>
        </p:spPr>
        <p:txBody>
          <a:bodyPr wrap="square" lIns="0" tIns="0" rIns="0" bIns="0" rtlCol="0" anchor="ctr"/>
          <a:lstStyle/>
          <a:p>
            <a:pPr algn="ctr" indent="0" marL="0">
              <a:buNone/>
            </a:pPr>
            <a:r>
              <a:rPr lang="en-US" sz="1700" b="1" dirty="0">
                <a:solidFill>
                  <a:srgbClr val="0F172A"/>
                </a:solidFill>
              </a:rPr>
              <a:t>Conclusión: retrieval importa, pero la robustez final depende de la orquestación.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 · experimento final</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8</a:t>
            </a:r>
            <a:endParaRPr lang="en-US" sz="850" dirty="0"/>
          </a:p>
        </p:txBody>
      </p:sp>
      <p:sp>
        <p:nvSpPr>
          <p:cNvPr id="5" name="Text 3"/>
          <p:cNvSpPr/>
          <p:nvPr/>
        </p:nvSpPr>
        <p:spPr>
          <a:xfrm>
            <a:off x="548640" y="411480"/>
            <a:ext cx="6949440" cy="457200"/>
          </a:xfrm>
          <a:prstGeom prst="rect">
            <a:avLst/>
          </a:prstGeom>
          <a:noFill/>
          <a:ln/>
        </p:spPr>
        <p:txBody>
          <a:bodyPr wrap="square" lIns="0" tIns="0" rIns="0" bIns="0" rtlCol="0" anchor="ctr">
            <a:normAutofit/>
          </a:bodyPr>
          <a:lstStyle/>
          <a:p>
            <a:pPr indent="0" marL="0">
              <a:buNone/>
            </a:pPr>
            <a:r>
              <a:rPr lang="en-US" sz="2500" b="1" dirty="0">
                <a:solidFill>
                  <a:srgbClr val="0F172A"/>
                </a:solidFill>
              </a:rPr>
              <a:t>Última prueba: BGE-M3 y docstrings largos</a:t>
            </a:r>
            <a:endParaRPr lang="en-US" sz="2500" dirty="0"/>
          </a:p>
        </p:txBody>
      </p:sp>
      <p:sp>
        <p:nvSpPr>
          <p:cNvPr id="6" name="Text 4"/>
          <p:cNvSpPr/>
          <p:nvPr/>
        </p:nvSpPr>
        <p:spPr>
          <a:xfrm>
            <a:off x="548640" y="932688"/>
            <a:ext cx="7955280" cy="274320"/>
          </a:xfrm>
          <a:prstGeom prst="rect">
            <a:avLst/>
          </a:prstGeom>
          <a:noFill/>
          <a:ln/>
        </p:spPr>
        <p:txBody>
          <a:bodyPr wrap="square" lIns="0" tIns="0" rIns="0" bIns="0" rtlCol="0" anchor="ctr"/>
          <a:lstStyle/>
          <a:p>
            <a:pPr indent="0" marL="0">
              <a:buNone/>
            </a:pPr>
            <a:r>
              <a:rPr lang="en-US" sz="1150" dirty="0">
                <a:solidFill>
                  <a:srgbClr val="475569"/>
                </a:solidFill>
              </a:rPr>
              <a:t>Probamos un diseño 2×2 antes de cerrar la práctica.</a:t>
            </a:r>
            <a:endParaRPr lang="en-US" sz="1150" dirty="0"/>
          </a:p>
        </p:txBody>
      </p:sp>
      <p:sp>
        <p:nvSpPr>
          <p:cNvPr id="7" name="Text 5"/>
          <p:cNvSpPr/>
          <p:nvPr/>
        </p:nvSpPr>
        <p:spPr>
          <a:xfrm>
            <a:off x="777240" y="1481328"/>
            <a:ext cx="502920" cy="201168"/>
          </a:xfrm>
          <a:prstGeom prst="rect">
            <a:avLst/>
          </a:prstGeom>
          <a:noFill/>
          <a:ln/>
        </p:spPr>
        <p:txBody>
          <a:bodyPr wrap="square" lIns="0" tIns="0" rIns="0" bIns="0" rtlCol="0" anchor="ctr"/>
          <a:lstStyle/>
          <a:p>
            <a:pPr algn="l" indent="0" marL="0">
              <a:buNone/>
            </a:pPr>
            <a:r>
              <a:rPr lang="en-US" sz="950" b="1" dirty="0">
                <a:solidFill>
                  <a:srgbClr val="0F172A"/>
                </a:solidFill>
              </a:rPr>
              <a:t>Var.</a:t>
            </a:r>
            <a:endParaRPr lang="en-US" sz="950" dirty="0"/>
          </a:p>
        </p:txBody>
      </p:sp>
      <p:sp>
        <p:nvSpPr>
          <p:cNvPr id="8" name="Text 6"/>
          <p:cNvSpPr/>
          <p:nvPr/>
        </p:nvSpPr>
        <p:spPr>
          <a:xfrm>
            <a:off x="1490472" y="1481328"/>
            <a:ext cx="1417320" cy="201168"/>
          </a:xfrm>
          <a:prstGeom prst="rect">
            <a:avLst/>
          </a:prstGeom>
          <a:noFill/>
          <a:ln/>
        </p:spPr>
        <p:txBody>
          <a:bodyPr wrap="square" lIns="0" tIns="0" rIns="0" bIns="0" rtlCol="0" anchor="ctr"/>
          <a:lstStyle/>
          <a:p>
            <a:pPr algn="l" indent="0" marL="0">
              <a:buNone/>
            </a:pPr>
            <a:r>
              <a:rPr lang="en-US" sz="950" b="1" dirty="0">
                <a:solidFill>
                  <a:srgbClr val="0F172A"/>
                </a:solidFill>
              </a:rPr>
              <a:t>Embedding</a:t>
            </a:r>
            <a:endParaRPr lang="en-US" sz="950" dirty="0"/>
          </a:p>
        </p:txBody>
      </p:sp>
      <p:sp>
        <p:nvSpPr>
          <p:cNvPr id="9" name="Text 7"/>
          <p:cNvSpPr/>
          <p:nvPr/>
        </p:nvSpPr>
        <p:spPr>
          <a:xfrm>
            <a:off x="3108960" y="1481328"/>
            <a:ext cx="1097280" cy="201168"/>
          </a:xfrm>
          <a:prstGeom prst="rect">
            <a:avLst/>
          </a:prstGeom>
          <a:noFill/>
          <a:ln/>
        </p:spPr>
        <p:txBody>
          <a:bodyPr wrap="square" lIns="0" tIns="0" rIns="0" bIns="0" rtlCol="0" anchor="ctr"/>
          <a:lstStyle/>
          <a:p>
            <a:pPr algn="l" indent="0" marL="0">
              <a:buNone/>
            </a:pPr>
            <a:r>
              <a:rPr lang="en-US" sz="950" b="1" dirty="0">
                <a:solidFill>
                  <a:srgbClr val="0F172A"/>
                </a:solidFill>
              </a:rPr>
              <a:t>Docs</a:t>
            </a:r>
            <a:endParaRPr lang="en-US" sz="950" dirty="0"/>
          </a:p>
        </p:txBody>
      </p:sp>
      <p:sp>
        <p:nvSpPr>
          <p:cNvPr id="10" name="Text 8"/>
          <p:cNvSpPr/>
          <p:nvPr/>
        </p:nvSpPr>
        <p:spPr>
          <a:xfrm>
            <a:off x="4572000" y="1481328"/>
            <a:ext cx="731520" cy="201168"/>
          </a:xfrm>
          <a:prstGeom prst="rect">
            <a:avLst/>
          </a:prstGeom>
          <a:noFill/>
          <a:ln/>
        </p:spPr>
        <p:txBody>
          <a:bodyPr wrap="square" lIns="0" tIns="0" rIns="0" bIns="0" rtlCol="0" anchor="ctr"/>
          <a:lstStyle/>
          <a:p>
            <a:pPr algn="ctr" indent="0" marL="0">
              <a:buNone/>
            </a:pPr>
            <a:r>
              <a:rPr lang="en-US" sz="950" b="1" dirty="0">
                <a:solidFill>
                  <a:srgbClr val="0F172A"/>
                </a:solidFill>
              </a:rPr>
              <a:t>Acc.</a:t>
            </a:r>
            <a:endParaRPr lang="en-US" sz="950" dirty="0"/>
          </a:p>
        </p:txBody>
      </p:sp>
      <p:sp>
        <p:nvSpPr>
          <p:cNvPr id="11" name="Text 9"/>
          <p:cNvSpPr/>
          <p:nvPr/>
        </p:nvSpPr>
        <p:spPr>
          <a:xfrm>
            <a:off x="5577840" y="1481328"/>
            <a:ext cx="822960" cy="201168"/>
          </a:xfrm>
          <a:prstGeom prst="rect">
            <a:avLst/>
          </a:prstGeom>
          <a:noFill/>
          <a:ln/>
        </p:spPr>
        <p:txBody>
          <a:bodyPr wrap="square" lIns="0" tIns="0" rIns="0" bIns="0" rtlCol="0" anchor="ctr"/>
          <a:lstStyle/>
          <a:p>
            <a:pPr algn="ctr" indent="0" marL="0">
              <a:buNone/>
            </a:pPr>
            <a:r>
              <a:rPr lang="en-US" sz="950" b="1" dirty="0">
                <a:solidFill>
                  <a:srgbClr val="0F172A"/>
                </a:solidFill>
              </a:rPr>
              <a:t>Recall</a:t>
            </a:r>
            <a:endParaRPr lang="en-US" sz="950" dirty="0"/>
          </a:p>
        </p:txBody>
      </p:sp>
      <p:sp>
        <p:nvSpPr>
          <p:cNvPr id="12" name="Text 10"/>
          <p:cNvSpPr/>
          <p:nvPr/>
        </p:nvSpPr>
        <p:spPr>
          <a:xfrm>
            <a:off x="6675120" y="1481328"/>
            <a:ext cx="1005840" cy="201168"/>
          </a:xfrm>
          <a:prstGeom prst="rect">
            <a:avLst/>
          </a:prstGeom>
          <a:noFill/>
          <a:ln/>
        </p:spPr>
        <p:txBody>
          <a:bodyPr wrap="square" lIns="0" tIns="0" rIns="0" bIns="0" rtlCol="0" anchor="ctr"/>
          <a:lstStyle/>
          <a:p>
            <a:pPr algn="ctr" indent="0" marL="0">
              <a:buNone/>
            </a:pPr>
            <a:r>
              <a:rPr lang="en-US" sz="950" b="1" dirty="0">
                <a:solidFill>
                  <a:srgbClr val="0F172A"/>
                </a:solidFill>
              </a:rPr>
              <a:t>Coste</a:t>
            </a:r>
            <a:endParaRPr lang="en-US" sz="950" dirty="0"/>
          </a:p>
        </p:txBody>
      </p:sp>
      <p:sp>
        <p:nvSpPr>
          <p:cNvPr id="13" name="Text 11"/>
          <p:cNvSpPr/>
          <p:nvPr/>
        </p:nvSpPr>
        <p:spPr>
          <a:xfrm>
            <a:off x="7955280" y="1481328"/>
            <a:ext cx="914400" cy="201168"/>
          </a:xfrm>
          <a:prstGeom prst="rect">
            <a:avLst/>
          </a:prstGeom>
          <a:noFill/>
          <a:ln/>
        </p:spPr>
        <p:txBody>
          <a:bodyPr wrap="square" lIns="0" tIns="0" rIns="0" bIns="0" rtlCol="0" anchor="ctr"/>
          <a:lstStyle/>
          <a:p>
            <a:pPr algn="ctr" indent="0" marL="0">
              <a:buNone/>
            </a:pPr>
            <a:r>
              <a:rPr lang="en-US" sz="950" b="1" dirty="0">
                <a:solidFill>
                  <a:srgbClr val="0F172A"/>
                </a:solidFill>
              </a:rPr>
              <a:t>Lat.</a:t>
            </a:r>
            <a:endParaRPr lang="en-US" sz="950" dirty="0"/>
          </a:p>
        </p:txBody>
      </p:sp>
      <p:sp>
        <p:nvSpPr>
          <p:cNvPr id="14" name="Text 12"/>
          <p:cNvSpPr/>
          <p:nvPr/>
        </p:nvSpPr>
        <p:spPr>
          <a:xfrm>
            <a:off x="9189720" y="1481328"/>
            <a:ext cx="731520" cy="201168"/>
          </a:xfrm>
          <a:prstGeom prst="rect">
            <a:avLst/>
          </a:prstGeom>
          <a:noFill/>
          <a:ln/>
        </p:spPr>
        <p:txBody>
          <a:bodyPr wrap="square" lIns="0" tIns="0" rIns="0" bIns="0" rtlCol="0" anchor="ctr"/>
          <a:lstStyle/>
          <a:p>
            <a:pPr algn="ctr" indent="0" marL="0">
              <a:buNone/>
            </a:pPr>
            <a:r>
              <a:rPr lang="en-US" sz="950" b="1" dirty="0">
                <a:solidFill>
                  <a:srgbClr val="0F172A"/>
                </a:solidFill>
              </a:rPr>
              <a:t>Calls</a:t>
            </a:r>
            <a:endParaRPr lang="en-US" sz="950" dirty="0"/>
          </a:p>
        </p:txBody>
      </p:sp>
      <p:sp>
        <p:nvSpPr>
          <p:cNvPr id="15" name="Text 13"/>
          <p:cNvSpPr/>
          <p:nvPr/>
        </p:nvSpPr>
        <p:spPr>
          <a:xfrm>
            <a:off x="777240" y="1865376"/>
            <a:ext cx="502920" cy="182880"/>
          </a:xfrm>
          <a:prstGeom prst="rect">
            <a:avLst/>
          </a:prstGeom>
          <a:noFill/>
          <a:ln/>
        </p:spPr>
        <p:txBody>
          <a:bodyPr wrap="square" lIns="0" tIns="0" rIns="0" bIns="0" rtlCol="0" anchor="ctr"/>
          <a:lstStyle/>
          <a:p>
            <a:pPr algn="l" indent="0" marL="0">
              <a:buNone/>
            </a:pPr>
            <a:r>
              <a:rPr lang="en-US" sz="940" b="1" dirty="0">
                <a:solidFill>
                  <a:srgbClr val="0F172A"/>
                </a:solidFill>
              </a:rPr>
              <a:t>A</a:t>
            </a:r>
            <a:endParaRPr lang="en-US" sz="940" dirty="0"/>
          </a:p>
        </p:txBody>
      </p:sp>
      <p:sp>
        <p:nvSpPr>
          <p:cNvPr id="16" name="Text 14"/>
          <p:cNvSpPr/>
          <p:nvPr/>
        </p:nvSpPr>
        <p:spPr>
          <a:xfrm>
            <a:off x="1490472" y="1865376"/>
            <a:ext cx="1417320" cy="182880"/>
          </a:xfrm>
          <a:prstGeom prst="rect">
            <a:avLst/>
          </a:prstGeom>
          <a:noFill/>
          <a:ln/>
        </p:spPr>
        <p:txBody>
          <a:bodyPr wrap="square" lIns="0" tIns="0" rIns="0" bIns="0" rtlCol="0" anchor="ctr"/>
          <a:lstStyle/>
          <a:p>
            <a:pPr algn="l" indent="0" marL="0">
              <a:buNone/>
            </a:pPr>
            <a:r>
              <a:rPr lang="en-US" sz="940" dirty="0">
                <a:solidFill>
                  <a:srgbClr val="0F172A"/>
                </a:solidFill>
              </a:rPr>
              <a:t>Small</a:t>
            </a:r>
            <a:endParaRPr lang="en-US" sz="940" dirty="0"/>
          </a:p>
        </p:txBody>
      </p:sp>
      <p:sp>
        <p:nvSpPr>
          <p:cNvPr id="17" name="Text 15"/>
          <p:cNvSpPr/>
          <p:nvPr/>
        </p:nvSpPr>
        <p:spPr>
          <a:xfrm>
            <a:off x="3108960" y="1865376"/>
            <a:ext cx="1097280" cy="182880"/>
          </a:xfrm>
          <a:prstGeom prst="rect">
            <a:avLst/>
          </a:prstGeom>
          <a:noFill/>
          <a:ln/>
        </p:spPr>
        <p:txBody>
          <a:bodyPr wrap="square" lIns="0" tIns="0" rIns="0" bIns="0" rtlCol="0" anchor="ctr"/>
          <a:lstStyle/>
          <a:p>
            <a:pPr algn="l" indent="0" marL="0">
              <a:buNone/>
            </a:pPr>
            <a:r>
              <a:rPr lang="en-US" sz="940" dirty="0">
                <a:solidFill>
                  <a:srgbClr val="0F172A"/>
                </a:solidFill>
              </a:rPr>
              <a:t>cortos</a:t>
            </a:r>
            <a:endParaRPr lang="en-US" sz="940" dirty="0"/>
          </a:p>
        </p:txBody>
      </p:sp>
      <p:sp>
        <p:nvSpPr>
          <p:cNvPr id="18" name="Text 16"/>
          <p:cNvSpPr/>
          <p:nvPr/>
        </p:nvSpPr>
        <p:spPr>
          <a:xfrm>
            <a:off x="4572000" y="1865376"/>
            <a:ext cx="731520" cy="182880"/>
          </a:xfrm>
          <a:prstGeom prst="rect">
            <a:avLst/>
          </a:prstGeom>
          <a:noFill/>
          <a:ln/>
        </p:spPr>
        <p:txBody>
          <a:bodyPr wrap="square" lIns="0" tIns="0" rIns="0" bIns="0" rtlCol="0" anchor="ctr"/>
          <a:lstStyle/>
          <a:p>
            <a:pPr algn="ctr" indent="0" marL="0">
              <a:buNone/>
            </a:pPr>
            <a:r>
              <a:rPr lang="en-US" sz="940" b="1" dirty="0">
                <a:solidFill>
                  <a:srgbClr val="16A34A"/>
                </a:solidFill>
              </a:rPr>
              <a:t>100%</a:t>
            </a:r>
            <a:endParaRPr lang="en-US" sz="940" dirty="0"/>
          </a:p>
        </p:txBody>
      </p:sp>
      <p:sp>
        <p:nvSpPr>
          <p:cNvPr id="19" name="Text 17"/>
          <p:cNvSpPr/>
          <p:nvPr/>
        </p:nvSpPr>
        <p:spPr>
          <a:xfrm>
            <a:off x="5577840" y="1865376"/>
            <a:ext cx="822960" cy="182880"/>
          </a:xfrm>
          <a:prstGeom prst="rect">
            <a:avLst/>
          </a:prstGeom>
          <a:noFill/>
          <a:ln/>
        </p:spPr>
        <p:txBody>
          <a:bodyPr wrap="square" lIns="0" tIns="0" rIns="0" bIns="0" rtlCol="0" anchor="ctr"/>
          <a:lstStyle/>
          <a:p>
            <a:pPr algn="ctr" indent="0" marL="0">
              <a:buNone/>
            </a:pPr>
            <a:r>
              <a:rPr lang="en-US" sz="940" dirty="0">
                <a:solidFill>
                  <a:srgbClr val="0F172A"/>
                </a:solidFill>
              </a:rPr>
              <a:t>61.5%</a:t>
            </a:r>
            <a:endParaRPr lang="en-US" sz="940" dirty="0"/>
          </a:p>
        </p:txBody>
      </p:sp>
      <p:sp>
        <p:nvSpPr>
          <p:cNvPr id="20" name="Text 18"/>
          <p:cNvSpPr/>
          <p:nvPr/>
        </p:nvSpPr>
        <p:spPr>
          <a:xfrm>
            <a:off x="6675120" y="1865376"/>
            <a:ext cx="1005840" cy="182880"/>
          </a:xfrm>
          <a:prstGeom prst="rect">
            <a:avLst/>
          </a:prstGeom>
          <a:noFill/>
          <a:ln/>
        </p:spPr>
        <p:txBody>
          <a:bodyPr wrap="square" lIns="0" tIns="0" rIns="0" bIns="0" rtlCol="0" anchor="ctr"/>
          <a:lstStyle/>
          <a:p>
            <a:pPr algn="ctr" indent="0" marL="0">
              <a:buNone/>
            </a:pPr>
            <a:r>
              <a:rPr lang="en-US" sz="940" dirty="0">
                <a:solidFill>
                  <a:srgbClr val="0F172A"/>
                </a:solidFill>
              </a:rPr>
              <a:t>$0.0116</a:t>
            </a:r>
            <a:endParaRPr lang="en-US" sz="940" dirty="0"/>
          </a:p>
        </p:txBody>
      </p:sp>
      <p:sp>
        <p:nvSpPr>
          <p:cNvPr id="21" name="Text 19"/>
          <p:cNvSpPr/>
          <p:nvPr/>
        </p:nvSpPr>
        <p:spPr>
          <a:xfrm>
            <a:off x="7955280" y="1865376"/>
            <a:ext cx="914400" cy="182880"/>
          </a:xfrm>
          <a:prstGeom prst="rect">
            <a:avLst/>
          </a:prstGeom>
          <a:noFill/>
          <a:ln/>
        </p:spPr>
        <p:txBody>
          <a:bodyPr wrap="square" lIns="0" tIns="0" rIns="0" bIns="0" rtlCol="0" anchor="ctr"/>
          <a:lstStyle/>
          <a:p>
            <a:pPr algn="ctr" indent="0" marL="0">
              <a:buNone/>
            </a:pPr>
            <a:r>
              <a:rPr lang="en-US" sz="940" dirty="0">
                <a:solidFill>
                  <a:srgbClr val="0F172A"/>
                </a:solidFill>
              </a:rPr>
              <a:t>7.93s</a:t>
            </a:r>
            <a:endParaRPr lang="en-US" sz="940" dirty="0"/>
          </a:p>
        </p:txBody>
      </p:sp>
      <p:sp>
        <p:nvSpPr>
          <p:cNvPr id="22" name="Text 20"/>
          <p:cNvSpPr/>
          <p:nvPr/>
        </p:nvSpPr>
        <p:spPr>
          <a:xfrm>
            <a:off x="9189720" y="1865376"/>
            <a:ext cx="731520" cy="182880"/>
          </a:xfrm>
          <a:prstGeom prst="rect">
            <a:avLst/>
          </a:prstGeom>
          <a:noFill/>
          <a:ln/>
        </p:spPr>
        <p:txBody>
          <a:bodyPr wrap="square" lIns="0" tIns="0" rIns="0" bIns="0" rtlCol="0" anchor="ctr"/>
          <a:lstStyle/>
          <a:p>
            <a:pPr algn="ctr" indent="0" marL="0">
              <a:buNone/>
            </a:pPr>
            <a:r>
              <a:rPr lang="en-US" sz="940" dirty="0">
                <a:solidFill>
                  <a:srgbClr val="0F172A"/>
                </a:solidFill>
              </a:rPr>
              <a:t>3.90</a:t>
            </a:r>
            <a:endParaRPr lang="en-US" sz="940" dirty="0"/>
          </a:p>
        </p:txBody>
      </p:sp>
      <p:sp>
        <p:nvSpPr>
          <p:cNvPr id="23" name="Text 21"/>
          <p:cNvSpPr/>
          <p:nvPr/>
        </p:nvSpPr>
        <p:spPr>
          <a:xfrm>
            <a:off x="777240" y="2395728"/>
            <a:ext cx="502920" cy="182880"/>
          </a:xfrm>
          <a:prstGeom prst="rect">
            <a:avLst/>
          </a:prstGeom>
          <a:noFill/>
          <a:ln/>
        </p:spPr>
        <p:txBody>
          <a:bodyPr wrap="square" lIns="0" tIns="0" rIns="0" bIns="0" rtlCol="0" anchor="ctr"/>
          <a:lstStyle/>
          <a:p>
            <a:pPr algn="l" indent="0" marL="0">
              <a:buNone/>
            </a:pPr>
            <a:r>
              <a:rPr lang="en-US" sz="940" b="1" dirty="0">
                <a:solidFill>
                  <a:srgbClr val="0F172A"/>
                </a:solidFill>
              </a:rPr>
              <a:t>B</a:t>
            </a:r>
            <a:endParaRPr lang="en-US" sz="940" dirty="0"/>
          </a:p>
        </p:txBody>
      </p:sp>
      <p:sp>
        <p:nvSpPr>
          <p:cNvPr id="24" name="Text 22"/>
          <p:cNvSpPr/>
          <p:nvPr/>
        </p:nvSpPr>
        <p:spPr>
          <a:xfrm>
            <a:off x="1490472" y="2395728"/>
            <a:ext cx="1417320" cy="182880"/>
          </a:xfrm>
          <a:prstGeom prst="rect">
            <a:avLst/>
          </a:prstGeom>
          <a:noFill/>
          <a:ln/>
        </p:spPr>
        <p:txBody>
          <a:bodyPr wrap="square" lIns="0" tIns="0" rIns="0" bIns="0" rtlCol="0" anchor="ctr"/>
          <a:lstStyle/>
          <a:p>
            <a:pPr algn="l" indent="0" marL="0">
              <a:buNone/>
            </a:pPr>
            <a:r>
              <a:rPr lang="en-US" sz="940" dirty="0">
                <a:solidFill>
                  <a:srgbClr val="0F172A"/>
                </a:solidFill>
              </a:rPr>
              <a:t>M3</a:t>
            </a:r>
            <a:endParaRPr lang="en-US" sz="940" dirty="0"/>
          </a:p>
        </p:txBody>
      </p:sp>
      <p:sp>
        <p:nvSpPr>
          <p:cNvPr id="25" name="Text 23"/>
          <p:cNvSpPr/>
          <p:nvPr/>
        </p:nvSpPr>
        <p:spPr>
          <a:xfrm>
            <a:off x="3108960" y="2395728"/>
            <a:ext cx="1097280" cy="182880"/>
          </a:xfrm>
          <a:prstGeom prst="rect">
            <a:avLst/>
          </a:prstGeom>
          <a:noFill/>
          <a:ln/>
        </p:spPr>
        <p:txBody>
          <a:bodyPr wrap="square" lIns="0" tIns="0" rIns="0" bIns="0" rtlCol="0" anchor="ctr"/>
          <a:lstStyle/>
          <a:p>
            <a:pPr algn="l" indent="0" marL="0">
              <a:buNone/>
            </a:pPr>
            <a:r>
              <a:rPr lang="en-US" sz="940" dirty="0">
                <a:solidFill>
                  <a:srgbClr val="0F172A"/>
                </a:solidFill>
              </a:rPr>
              <a:t>cortos</a:t>
            </a:r>
            <a:endParaRPr lang="en-US" sz="940" dirty="0"/>
          </a:p>
        </p:txBody>
      </p:sp>
      <p:sp>
        <p:nvSpPr>
          <p:cNvPr id="26" name="Text 24"/>
          <p:cNvSpPr/>
          <p:nvPr/>
        </p:nvSpPr>
        <p:spPr>
          <a:xfrm>
            <a:off x="4572000" y="2395728"/>
            <a:ext cx="731520" cy="182880"/>
          </a:xfrm>
          <a:prstGeom prst="rect">
            <a:avLst/>
          </a:prstGeom>
          <a:noFill/>
          <a:ln/>
        </p:spPr>
        <p:txBody>
          <a:bodyPr wrap="square" lIns="0" tIns="0" rIns="0" bIns="0" rtlCol="0" anchor="ctr"/>
          <a:lstStyle/>
          <a:p>
            <a:pPr algn="ctr" indent="0" marL="0">
              <a:buNone/>
            </a:pPr>
            <a:r>
              <a:rPr lang="en-US" sz="940" dirty="0">
                <a:solidFill>
                  <a:srgbClr val="0F172A"/>
                </a:solidFill>
              </a:rPr>
              <a:t>95%</a:t>
            </a:r>
            <a:endParaRPr lang="en-US" sz="940" dirty="0"/>
          </a:p>
        </p:txBody>
      </p:sp>
      <p:sp>
        <p:nvSpPr>
          <p:cNvPr id="27" name="Text 25"/>
          <p:cNvSpPr/>
          <p:nvPr/>
        </p:nvSpPr>
        <p:spPr>
          <a:xfrm>
            <a:off x="5577840" y="2395728"/>
            <a:ext cx="822960" cy="182880"/>
          </a:xfrm>
          <a:prstGeom prst="rect">
            <a:avLst/>
          </a:prstGeom>
          <a:noFill/>
          <a:ln/>
        </p:spPr>
        <p:txBody>
          <a:bodyPr wrap="square" lIns="0" tIns="0" rIns="0" bIns="0" rtlCol="0" anchor="ctr"/>
          <a:lstStyle/>
          <a:p>
            <a:pPr algn="ctr" indent="0" marL="0">
              <a:buNone/>
            </a:pPr>
            <a:r>
              <a:rPr lang="en-US" sz="940" dirty="0">
                <a:solidFill>
                  <a:srgbClr val="0F172A"/>
                </a:solidFill>
              </a:rPr>
              <a:t>61.5%</a:t>
            </a:r>
            <a:endParaRPr lang="en-US" sz="940" dirty="0"/>
          </a:p>
        </p:txBody>
      </p:sp>
      <p:sp>
        <p:nvSpPr>
          <p:cNvPr id="28" name="Text 26"/>
          <p:cNvSpPr/>
          <p:nvPr/>
        </p:nvSpPr>
        <p:spPr>
          <a:xfrm>
            <a:off x="6675120" y="2395728"/>
            <a:ext cx="1005840" cy="182880"/>
          </a:xfrm>
          <a:prstGeom prst="rect">
            <a:avLst/>
          </a:prstGeom>
          <a:noFill/>
          <a:ln/>
        </p:spPr>
        <p:txBody>
          <a:bodyPr wrap="square" lIns="0" tIns="0" rIns="0" bIns="0" rtlCol="0" anchor="ctr"/>
          <a:lstStyle/>
          <a:p>
            <a:pPr algn="ctr" indent="0" marL="0">
              <a:buNone/>
            </a:pPr>
            <a:r>
              <a:rPr lang="en-US" sz="940" dirty="0">
                <a:solidFill>
                  <a:srgbClr val="0F172A"/>
                </a:solidFill>
              </a:rPr>
              <a:t>$0.0144</a:t>
            </a:r>
            <a:endParaRPr lang="en-US" sz="940" dirty="0"/>
          </a:p>
        </p:txBody>
      </p:sp>
      <p:sp>
        <p:nvSpPr>
          <p:cNvPr id="29" name="Text 27"/>
          <p:cNvSpPr/>
          <p:nvPr/>
        </p:nvSpPr>
        <p:spPr>
          <a:xfrm>
            <a:off x="7955280" y="2395728"/>
            <a:ext cx="914400" cy="182880"/>
          </a:xfrm>
          <a:prstGeom prst="rect">
            <a:avLst/>
          </a:prstGeom>
          <a:noFill/>
          <a:ln/>
        </p:spPr>
        <p:txBody>
          <a:bodyPr wrap="square" lIns="0" tIns="0" rIns="0" bIns="0" rtlCol="0" anchor="ctr"/>
          <a:lstStyle/>
          <a:p>
            <a:pPr algn="ctr" indent="0" marL="0">
              <a:buNone/>
            </a:pPr>
            <a:r>
              <a:rPr lang="en-US" sz="940" dirty="0">
                <a:solidFill>
                  <a:srgbClr val="0F172A"/>
                </a:solidFill>
              </a:rPr>
              <a:t>8.66s</a:t>
            </a:r>
            <a:endParaRPr lang="en-US" sz="940" dirty="0"/>
          </a:p>
        </p:txBody>
      </p:sp>
      <p:sp>
        <p:nvSpPr>
          <p:cNvPr id="30" name="Text 28"/>
          <p:cNvSpPr/>
          <p:nvPr/>
        </p:nvSpPr>
        <p:spPr>
          <a:xfrm>
            <a:off x="9189720" y="2395728"/>
            <a:ext cx="731520" cy="182880"/>
          </a:xfrm>
          <a:prstGeom prst="rect">
            <a:avLst/>
          </a:prstGeom>
          <a:noFill/>
          <a:ln/>
        </p:spPr>
        <p:txBody>
          <a:bodyPr wrap="square" lIns="0" tIns="0" rIns="0" bIns="0" rtlCol="0" anchor="ctr"/>
          <a:lstStyle/>
          <a:p>
            <a:pPr algn="ctr" indent="0" marL="0">
              <a:buNone/>
            </a:pPr>
            <a:r>
              <a:rPr lang="en-US" sz="940" dirty="0">
                <a:solidFill>
                  <a:srgbClr val="0F172A"/>
                </a:solidFill>
              </a:rPr>
              <a:t>4.25</a:t>
            </a:r>
            <a:endParaRPr lang="en-US" sz="940" dirty="0"/>
          </a:p>
        </p:txBody>
      </p:sp>
      <p:sp>
        <p:nvSpPr>
          <p:cNvPr id="31" name="Text 29"/>
          <p:cNvSpPr/>
          <p:nvPr/>
        </p:nvSpPr>
        <p:spPr>
          <a:xfrm>
            <a:off x="777240" y="2926080"/>
            <a:ext cx="502920" cy="182880"/>
          </a:xfrm>
          <a:prstGeom prst="rect">
            <a:avLst/>
          </a:prstGeom>
          <a:noFill/>
          <a:ln/>
        </p:spPr>
        <p:txBody>
          <a:bodyPr wrap="square" lIns="0" tIns="0" rIns="0" bIns="0" rtlCol="0" anchor="ctr"/>
          <a:lstStyle/>
          <a:p>
            <a:pPr algn="l" indent="0" marL="0">
              <a:buNone/>
            </a:pPr>
            <a:r>
              <a:rPr lang="en-US" sz="940" b="1" dirty="0">
                <a:solidFill>
                  <a:srgbClr val="0F172A"/>
                </a:solidFill>
              </a:rPr>
              <a:t>C</a:t>
            </a:r>
            <a:endParaRPr lang="en-US" sz="940" dirty="0"/>
          </a:p>
        </p:txBody>
      </p:sp>
      <p:sp>
        <p:nvSpPr>
          <p:cNvPr id="32" name="Text 30"/>
          <p:cNvSpPr/>
          <p:nvPr/>
        </p:nvSpPr>
        <p:spPr>
          <a:xfrm>
            <a:off x="1490472" y="2926080"/>
            <a:ext cx="1417320" cy="182880"/>
          </a:xfrm>
          <a:prstGeom prst="rect">
            <a:avLst/>
          </a:prstGeom>
          <a:noFill/>
          <a:ln/>
        </p:spPr>
        <p:txBody>
          <a:bodyPr wrap="square" lIns="0" tIns="0" rIns="0" bIns="0" rtlCol="0" anchor="ctr"/>
          <a:lstStyle/>
          <a:p>
            <a:pPr algn="l" indent="0" marL="0">
              <a:buNone/>
            </a:pPr>
            <a:r>
              <a:rPr lang="en-US" sz="940" dirty="0">
                <a:solidFill>
                  <a:srgbClr val="0F172A"/>
                </a:solidFill>
              </a:rPr>
              <a:t>Small</a:t>
            </a:r>
            <a:endParaRPr lang="en-US" sz="940" dirty="0"/>
          </a:p>
        </p:txBody>
      </p:sp>
      <p:sp>
        <p:nvSpPr>
          <p:cNvPr id="33" name="Text 31"/>
          <p:cNvSpPr/>
          <p:nvPr/>
        </p:nvSpPr>
        <p:spPr>
          <a:xfrm>
            <a:off x="3108960" y="2926080"/>
            <a:ext cx="1097280" cy="182880"/>
          </a:xfrm>
          <a:prstGeom prst="rect">
            <a:avLst/>
          </a:prstGeom>
          <a:noFill/>
          <a:ln/>
        </p:spPr>
        <p:txBody>
          <a:bodyPr wrap="square" lIns="0" tIns="0" rIns="0" bIns="0" rtlCol="0" anchor="ctr"/>
          <a:lstStyle/>
          <a:p>
            <a:pPr algn="l" indent="0" marL="0">
              <a:buNone/>
            </a:pPr>
            <a:r>
              <a:rPr lang="en-US" sz="940" dirty="0">
                <a:solidFill>
                  <a:srgbClr val="0F172A"/>
                </a:solidFill>
              </a:rPr>
              <a:t>largos</a:t>
            </a:r>
            <a:endParaRPr lang="en-US" sz="940" dirty="0"/>
          </a:p>
        </p:txBody>
      </p:sp>
      <p:sp>
        <p:nvSpPr>
          <p:cNvPr id="34" name="Text 32"/>
          <p:cNvSpPr/>
          <p:nvPr/>
        </p:nvSpPr>
        <p:spPr>
          <a:xfrm>
            <a:off x="4572000" y="2926080"/>
            <a:ext cx="731520" cy="182880"/>
          </a:xfrm>
          <a:prstGeom prst="rect">
            <a:avLst/>
          </a:prstGeom>
          <a:noFill/>
          <a:ln/>
        </p:spPr>
        <p:txBody>
          <a:bodyPr wrap="square" lIns="0" tIns="0" rIns="0" bIns="0" rtlCol="0" anchor="ctr"/>
          <a:lstStyle/>
          <a:p>
            <a:pPr algn="ctr" indent="0" marL="0">
              <a:buNone/>
            </a:pPr>
            <a:r>
              <a:rPr lang="en-US" sz="940" b="1" dirty="0">
                <a:solidFill>
                  <a:srgbClr val="16A34A"/>
                </a:solidFill>
              </a:rPr>
              <a:t>100%</a:t>
            </a:r>
            <a:endParaRPr lang="en-US" sz="940" dirty="0"/>
          </a:p>
        </p:txBody>
      </p:sp>
      <p:sp>
        <p:nvSpPr>
          <p:cNvPr id="35" name="Text 33"/>
          <p:cNvSpPr/>
          <p:nvPr/>
        </p:nvSpPr>
        <p:spPr>
          <a:xfrm>
            <a:off x="5577840" y="2926080"/>
            <a:ext cx="822960" cy="182880"/>
          </a:xfrm>
          <a:prstGeom prst="rect">
            <a:avLst/>
          </a:prstGeom>
          <a:noFill/>
          <a:ln/>
        </p:spPr>
        <p:txBody>
          <a:bodyPr wrap="square" lIns="0" tIns="0" rIns="0" bIns="0" rtlCol="0" anchor="ctr"/>
          <a:lstStyle/>
          <a:p>
            <a:pPr algn="ctr" indent="0" marL="0">
              <a:buNone/>
            </a:pPr>
            <a:r>
              <a:rPr lang="en-US" sz="940" dirty="0">
                <a:solidFill>
                  <a:srgbClr val="0F172A"/>
                </a:solidFill>
              </a:rPr>
              <a:t>61.5%</a:t>
            </a:r>
            <a:endParaRPr lang="en-US" sz="940" dirty="0"/>
          </a:p>
        </p:txBody>
      </p:sp>
      <p:sp>
        <p:nvSpPr>
          <p:cNvPr id="36" name="Text 34"/>
          <p:cNvSpPr/>
          <p:nvPr/>
        </p:nvSpPr>
        <p:spPr>
          <a:xfrm>
            <a:off x="6675120" y="2926080"/>
            <a:ext cx="1005840" cy="182880"/>
          </a:xfrm>
          <a:prstGeom prst="rect">
            <a:avLst/>
          </a:prstGeom>
          <a:noFill/>
          <a:ln/>
        </p:spPr>
        <p:txBody>
          <a:bodyPr wrap="square" lIns="0" tIns="0" rIns="0" bIns="0" rtlCol="0" anchor="ctr"/>
          <a:lstStyle/>
          <a:p>
            <a:pPr algn="ctr" indent="0" marL="0">
              <a:buNone/>
            </a:pPr>
            <a:r>
              <a:rPr lang="en-US" sz="940" dirty="0">
                <a:solidFill>
                  <a:srgbClr val="0F172A"/>
                </a:solidFill>
              </a:rPr>
              <a:t>$0.0132</a:t>
            </a:r>
            <a:endParaRPr lang="en-US" sz="940" dirty="0"/>
          </a:p>
        </p:txBody>
      </p:sp>
      <p:sp>
        <p:nvSpPr>
          <p:cNvPr id="37" name="Text 35"/>
          <p:cNvSpPr/>
          <p:nvPr/>
        </p:nvSpPr>
        <p:spPr>
          <a:xfrm>
            <a:off x="7955280" y="2926080"/>
            <a:ext cx="914400" cy="182880"/>
          </a:xfrm>
          <a:prstGeom prst="rect">
            <a:avLst/>
          </a:prstGeom>
          <a:noFill/>
          <a:ln/>
        </p:spPr>
        <p:txBody>
          <a:bodyPr wrap="square" lIns="0" tIns="0" rIns="0" bIns="0" rtlCol="0" anchor="ctr"/>
          <a:lstStyle/>
          <a:p>
            <a:pPr algn="ctr" indent="0" marL="0">
              <a:buNone/>
            </a:pPr>
            <a:r>
              <a:rPr lang="en-US" sz="940" dirty="0">
                <a:solidFill>
                  <a:srgbClr val="0F172A"/>
                </a:solidFill>
              </a:rPr>
              <a:t>7.68s</a:t>
            </a:r>
            <a:endParaRPr lang="en-US" sz="940" dirty="0"/>
          </a:p>
        </p:txBody>
      </p:sp>
      <p:sp>
        <p:nvSpPr>
          <p:cNvPr id="38" name="Text 36"/>
          <p:cNvSpPr/>
          <p:nvPr/>
        </p:nvSpPr>
        <p:spPr>
          <a:xfrm>
            <a:off x="9189720" y="2926080"/>
            <a:ext cx="731520" cy="182880"/>
          </a:xfrm>
          <a:prstGeom prst="rect">
            <a:avLst/>
          </a:prstGeom>
          <a:noFill/>
          <a:ln/>
        </p:spPr>
        <p:txBody>
          <a:bodyPr wrap="square" lIns="0" tIns="0" rIns="0" bIns="0" rtlCol="0" anchor="ctr"/>
          <a:lstStyle/>
          <a:p>
            <a:pPr algn="ctr" indent="0" marL="0">
              <a:buNone/>
            </a:pPr>
            <a:r>
              <a:rPr lang="en-US" sz="940" dirty="0">
                <a:solidFill>
                  <a:srgbClr val="0F172A"/>
                </a:solidFill>
              </a:rPr>
              <a:t>3.80</a:t>
            </a:r>
            <a:endParaRPr lang="en-US" sz="940" dirty="0"/>
          </a:p>
        </p:txBody>
      </p:sp>
      <p:sp>
        <p:nvSpPr>
          <p:cNvPr id="39" name="Text 37"/>
          <p:cNvSpPr/>
          <p:nvPr/>
        </p:nvSpPr>
        <p:spPr>
          <a:xfrm>
            <a:off x="777240" y="3456432"/>
            <a:ext cx="502920" cy="182880"/>
          </a:xfrm>
          <a:prstGeom prst="rect">
            <a:avLst/>
          </a:prstGeom>
          <a:noFill/>
          <a:ln/>
        </p:spPr>
        <p:txBody>
          <a:bodyPr wrap="square" lIns="0" tIns="0" rIns="0" bIns="0" rtlCol="0" anchor="ctr"/>
          <a:lstStyle/>
          <a:p>
            <a:pPr algn="l" indent="0" marL="0">
              <a:buNone/>
            </a:pPr>
            <a:r>
              <a:rPr lang="en-US" sz="940" b="1" dirty="0">
                <a:solidFill>
                  <a:srgbClr val="0F172A"/>
                </a:solidFill>
              </a:rPr>
              <a:t>D</a:t>
            </a:r>
            <a:endParaRPr lang="en-US" sz="940" dirty="0"/>
          </a:p>
        </p:txBody>
      </p:sp>
      <p:sp>
        <p:nvSpPr>
          <p:cNvPr id="40" name="Text 38"/>
          <p:cNvSpPr/>
          <p:nvPr/>
        </p:nvSpPr>
        <p:spPr>
          <a:xfrm>
            <a:off x="1490472" y="3456432"/>
            <a:ext cx="1417320" cy="182880"/>
          </a:xfrm>
          <a:prstGeom prst="rect">
            <a:avLst/>
          </a:prstGeom>
          <a:noFill/>
          <a:ln/>
        </p:spPr>
        <p:txBody>
          <a:bodyPr wrap="square" lIns="0" tIns="0" rIns="0" bIns="0" rtlCol="0" anchor="ctr"/>
          <a:lstStyle/>
          <a:p>
            <a:pPr algn="l" indent="0" marL="0">
              <a:buNone/>
            </a:pPr>
            <a:r>
              <a:rPr lang="en-US" sz="940" dirty="0">
                <a:solidFill>
                  <a:srgbClr val="0F172A"/>
                </a:solidFill>
              </a:rPr>
              <a:t>M3</a:t>
            </a:r>
            <a:endParaRPr lang="en-US" sz="940" dirty="0"/>
          </a:p>
        </p:txBody>
      </p:sp>
      <p:sp>
        <p:nvSpPr>
          <p:cNvPr id="41" name="Text 39"/>
          <p:cNvSpPr/>
          <p:nvPr/>
        </p:nvSpPr>
        <p:spPr>
          <a:xfrm>
            <a:off x="3108960" y="3456432"/>
            <a:ext cx="1097280" cy="182880"/>
          </a:xfrm>
          <a:prstGeom prst="rect">
            <a:avLst/>
          </a:prstGeom>
          <a:noFill/>
          <a:ln/>
        </p:spPr>
        <p:txBody>
          <a:bodyPr wrap="square" lIns="0" tIns="0" rIns="0" bIns="0" rtlCol="0" anchor="ctr"/>
          <a:lstStyle/>
          <a:p>
            <a:pPr algn="l" indent="0" marL="0">
              <a:buNone/>
            </a:pPr>
            <a:r>
              <a:rPr lang="en-US" sz="940" dirty="0">
                <a:solidFill>
                  <a:srgbClr val="0F172A"/>
                </a:solidFill>
              </a:rPr>
              <a:t>largos</a:t>
            </a:r>
            <a:endParaRPr lang="en-US" sz="940" dirty="0"/>
          </a:p>
        </p:txBody>
      </p:sp>
      <p:sp>
        <p:nvSpPr>
          <p:cNvPr id="42" name="Text 40"/>
          <p:cNvSpPr/>
          <p:nvPr/>
        </p:nvSpPr>
        <p:spPr>
          <a:xfrm>
            <a:off x="4572000" y="3456432"/>
            <a:ext cx="731520" cy="182880"/>
          </a:xfrm>
          <a:prstGeom prst="rect">
            <a:avLst/>
          </a:prstGeom>
          <a:noFill/>
          <a:ln/>
        </p:spPr>
        <p:txBody>
          <a:bodyPr wrap="square" lIns="0" tIns="0" rIns="0" bIns="0" rtlCol="0" anchor="ctr"/>
          <a:lstStyle/>
          <a:p>
            <a:pPr algn="ctr" indent="0" marL="0">
              <a:buNone/>
            </a:pPr>
            <a:r>
              <a:rPr lang="en-US" sz="940" b="1" dirty="0">
                <a:solidFill>
                  <a:srgbClr val="16A34A"/>
                </a:solidFill>
              </a:rPr>
              <a:t>100%</a:t>
            </a:r>
            <a:endParaRPr lang="en-US" sz="940" dirty="0"/>
          </a:p>
        </p:txBody>
      </p:sp>
      <p:sp>
        <p:nvSpPr>
          <p:cNvPr id="43" name="Text 41"/>
          <p:cNvSpPr/>
          <p:nvPr/>
        </p:nvSpPr>
        <p:spPr>
          <a:xfrm>
            <a:off x="5577840" y="3456432"/>
            <a:ext cx="822960" cy="182880"/>
          </a:xfrm>
          <a:prstGeom prst="rect">
            <a:avLst/>
          </a:prstGeom>
          <a:noFill/>
          <a:ln/>
        </p:spPr>
        <p:txBody>
          <a:bodyPr wrap="square" lIns="0" tIns="0" rIns="0" bIns="0" rtlCol="0" anchor="ctr"/>
          <a:lstStyle/>
          <a:p>
            <a:pPr algn="ctr" indent="0" marL="0">
              <a:buNone/>
            </a:pPr>
            <a:r>
              <a:rPr lang="en-US" sz="940" dirty="0">
                <a:solidFill>
                  <a:srgbClr val="0F172A"/>
                </a:solidFill>
              </a:rPr>
              <a:t>61.5%</a:t>
            </a:r>
            <a:endParaRPr lang="en-US" sz="940" dirty="0"/>
          </a:p>
        </p:txBody>
      </p:sp>
      <p:sp>
        <p:nvSpPr>
          <p:cNvPr id="44" name="Text 42"/>
          <p:cNvSpPr/>
          <p:nvPr/>
        </p:nvSpPr>
        <p:spPr>
          <a:xfrm>
            <a:off x="6675120" y="3456432"/>
            <a:ext cx="1005840" cy="182880"/>
          </a:xfrm>
          <a:prstGeom prst="rect">
            <a:avLst/>
          </a:prstGeom>
          <a:noFill/>
          <a:ln/>
        </p:spPr>
        <p:txBody>
          <a:bodyPr wrap="square" lIns="0" tIns="0" rIns="0" bIns="0" rtlCol="0" anchor="ctr"/>
          <a:lstStyle/>
          <a:p>
            <a:pPr algn="ctr" indent="0" marL="0">
              <a:buNone/>
            </a:pPr>
            <a:r>
              <a:rPr lang="en-US" sz="940" dirty="0">
                <a:solidFill>
                  <a:srgbClr val="0F172A"/>
                </a:solidFill>
              </a:rPr>
              <a:t>$0.0143</a:t>
            </a:r>
            <a:endParaRPr lang="en-US" sz="940" dirty="0"/>
          </a:p>
        </p:txBody>
      </p:sp>
      <p:sp>
        <p:nvSpPr>
          <p:cNvPr id="45" name="Text 43"/>
          <p:cNvSpPr/>
          <p:nvPr/>
        </p:nvSpPr>
        <p:spPr>
          <a:xfrm>
            <a:off x="7955280" y="3456432"/>
            <a:ext cx="914400" cy="182880"/>
          </a:xfrm>
          <a:prstGeom prst="rect">
            <a:avLst/>
          </a:prstGeom>
          <a:noFill/>
          <a:ln/>
        </p:spPr>
        <p:txBody>
          <a:bodyPr wrap="square" lIns="0" tIns="0" rIns="0" bIns="0" rtlCol="0" anchor="ctr"/>
          <a:lstStyle/>
          <a:p>
            <a:pPr algn="ctr" indent="0" marL="0">
              <a:buNone/>
            </a:pPr>
            <a:r>
              <a:rPr lang="en-US" sz="940" dirty="0">
                <a:solidFill>
                  <a:srgbClr val="0F172A"/>
                </a:solidFill>
              </a:rPr>
              <a:t>8.05s</a:t>
            </a:r>
            <a:endParaRPr lang="en-US" sz="940" dirty="0"/>
          </a:p>
        </p:txBody>
      </p:sp>
      <p:sp>
        <p:nvSpPr>
          <p:cNvPr id="46" name="Text 44"/>
          <p:cNvSpPr/>
          <p:nvPr/>
        </p:nvSpPr>
        <p:spPr>
          <a:xfrm>
            <a:off x="9189720" y="3456432"/>
            <a:ext cx="731520" cy="182880"/>
          </a:xfrm>
          <a:prstGeom prst="rect">
            <a:avLst/>
          </a:prstGeom>
          <a:noFill/>
          <a:ln/>
        </p:spPr>
        <p:txBody>
          <a:bodyPr wrap="square" lIns="0" tIns="0" rIns="0" bIns="0" rtlCol="0" anchor="ctr"/>
          <a:lstStyle/>
          <a:p>
            <a:pPr algn="ctr" indent="0" marL="0">
              <a:buNone/>
            </a:pPr>
            <a:r>
              <a:rPr lang="en-US" sz="940" dirty="0">
                <a:solidFill>
                  <a:srgbClr val="0F172A"/>
                </a:solidFill>
              </a:rPr>
              <a:t>3.90</a:t>
            </a:r>
            <a:endParaRPr lang="en-US" sz="940" dirty="0"/>
          </a:p>
        </p:txBody>
      </p:sp>
      <p:sp>
        <p:nvSpPr>
          <p:cNvPr id="47" name="Shape 45"/>
          <p:cNvSpPr/>
          <p:nvPr/>
        </p:nvSpPr>
        <p:spPr>
          <a:xfrm>
            <a:off x="914400" y="4709160"/>
            <a:ext cx="5212080" cy="868680"/>
          </a:xfrm>
          <a:prstGeom prst="roundRect">
            <a:avLst>
              <a:gd name="adj" fmla="val 8421"/>
            </a:avLst>
          </a:prstGeom>
          <a:solidFill>
            <a:srgbClr val="FFFFFF"/>
          </a:solidFill>
          <a:ln w="13970">
            <a:solidFill>
              <a:srgbClr val="4F46E5"/>
            </a:solidFill>
            <a:prstDash val="solid"/>
          </a:ln>
        </p:spPr>
      </p:sp>
      <p:sp>
        <p:nvSpPr>
          <p:cNvPr id="48" name="Text 46"/>
          <p:cNvSpPr/>
          <p:nvPr/>
        </p:nvSpPr>
        <p:spPr>
          <a:xfrm>
            <a:off x="1078992" y="4846320"/>
            <a:ext cx="4882896" cy="667512"/>
          </a:xfrm>
          <a:prstGeom prst="rect">
            <a:avLst/>
          </a:prstGeom>
          <a:noFill/>
          <a:ln/>
        </p:spPr>
        <p:txBody>
          <a:bodyPr wrap="square" lIns="381" tIns="381" rIns="381" bIns="381" rtlCol="0" anchor="ctr">
            <a:normAutofit/>
          </a:bodyPr>
          <a:lstStyle/>
          <a:p>
            <a:pPr indent="0" marL="0">
              <a:buNone/>
            </a:pPr>
            <a:r>
              <a:rPr lang="en-US" sz="1250" dirty="0">
                <a:solidFill>
                  <a:srgbClr val="0F172A"/>
                </a:solidFill>
              </a:rPr>
              <a:t>Resultado: M3 no mejora el recall. Los docstrings largos sí cambian el routing, pero añaden coste de contexto.</a:t>
            </a:r>
            <a:endParaRPr lang="en-US" sz="1250" dirty="0"/>
          </a:p>
        </p:txBody>
      </p:sp>
      <p:sp>
        <p:nvSpPr>
          <p:cNvPr id="49" name="Shape 47"/>
          <p:cNvSpPr/>
          <p:nvPr/>
        </p:nvSpPr>
        <p:spPr>
          <a:xfrm>
            <a:off x="6537960" y="4709160"/>
            <a:ext cx="3703320" cy="868680"/>
          </a:xfrm>
          <a:prstGeom prst="roundRect">
            <a:avLst>
              <a:gd name="adj" fmla="val 8421"/>
            </a:avLst>
          </a:prstGeom>
          <a:solidFill>
            <a:srgbClr val="DCFCE7"/>
          </a:solidFill>
          <a:ln w="13970">
            <a:solidFill>
              <a:srgbClr val="16A34A"/>
            </a:solidFill>
            <a:prstDash val="solid"/>
          </a:ln>
        </p:spPr>
      </p:sp>
      <p:sp>
        <p:nvSpPr>
          <p:cNvPr id="50" name="Text 48"/>
          <p:cNvSpPr/>
          <p:nvPr/>
        </p:nvSpPr>
        <p:spPr>
          <a:xfrm>
            <a:off x="6702552" y="4846320"/>
            <a:ext cx="3374136" cy="667512"/>
          </a:xfrm>
          <a:prstGeom prst="rect">
            <a:avLst/>
          </a:prstGeom>
          <a:noFill/>
          <a:ln/>
        </p:spPr>
        <p:txBody>
          <a:bodyPr wrap="square" lIns="381" tIns="381" rIns="381" bIns="381" rtlCol="0" anchor="ctr">
            <a:normAutofit/>
          </a:bodyPr>
          <a:lstStyle/>
          <a:p>
            <a:pPr indent="0" marL="0">
              <a:buNone/>
            </a:pPr>
            <a:r>
              <a:rPr lang="en-US" sz="1250" dirty="0">
                <a:solidFill>
                  <a:srgbClr val="0F172A"/>
                </a:solidFill>
              </a:rPr>
              <a:t>Decisión: mantenemos la versión final original: Small + docstrings cortos.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 · decisión</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9</a:t>
            </a:r>
            <a:endParaRPr lang="en-US" sz="850" dirty="0"/>
          </a:p>
        </p:txBody>
      </p:sp>
      <p:sp>
        <p:nvSpPr>
          <p:cNvPr id="5" name="Text 3"/>
          <p:cNvSpPr/>
          <p:nvPr/>
        </p:nvSpPr>
        <p:spPr>
          <a:xfrm>
            <a:off x="548640" y="411480"/>
            <a:ext cx="6949440" cy="457200"/>
          </a:xfrm>
          <a:prstGeom prst="rect">
            <a:avLst/>
          </a:prstGeom>
          <a:noFill/>
          <a:ln/>
        </p:spPr>
        <p:txBody>
          <a:bodyPr wrap="square" lIns="0" tIns="0" rIns="0" bIns="0" rtlCol="0" anchor="ctr">
            <a:normAutofit/>
          </a:bodyPr>
          <a:lstStyle/>
          <a:p>
            <a:pPr indent="0" marL="0">
              <a:buNone/>
            </a:pPr>
            <a:r>
              <a:rPr lang="en-US" sz="2500" b="1" dirty="0">
                <a:solidFill>
                  <a:srgbClr val="0F172A"/>
                </a:solidFill>
              </a:rPr>
              <a:t>Qué aprendimos de la última prueba</a:t>
            </a:r>
            <a:endParaRPr lang="en-US" sz="2500" dirty="0"/>
          </a:p>
        </p:txBody>
      </p:sp>
      <p:sp>
        <p:nvSpPr>
          <p:cNvPr id="6" name="Text 4"/>
          <p:cNvSpPr/>
          <p:nvPr/>
        </p:nvSpPr>
        <p:spPr>
          <a:xfrm>
            <a:off x="548640" y="932688"/>
            <a:ext cx="7955280" cy="274320"/>
          </a:xfrm>
          <a:prstGeom prst="rect">
            <a:avLst/>
          </a:prstGeom>
          <a:noFill/>
          <a:ln/>
        </p:spPr>
        <p:txBody>
          <a:bodyPr wrap="square" lIns="0" tIns="0" rIns="0" bIns="0" rtlCol="0" anchor="ctr"/>
          <a:lstStyle/>
          <a:p>
            <a:pPr indent="0" marL="0">
              <a:buNone/>
            </a:pPr>
            <a:r>
              <a:rPr lang="en-US" sz="1150" dirty="0">
                <a:solidFill>
                  <a:srgbClr val="475569"/>
                </a:solidFill>
              </a:rPr>
              <a:t>No todo cambio más sofisticado merece entrar en producción.</a:t>
            </a:r>
            <a:endParaRPr lang="en-US" sz="1150" dirty="0"/>
          </a:p>
        </p:txBody>
      </p:sp>
      <p:sp>
        <p:nvSpPr>
          <p:cNvPr id="7" name="Shape 5"/>
          <p:cNvSpPr/>
          <p:nvPr/>
        </p:nvSpPr>
        <p:spPr>
          <a:xfrm>
            <a:off x="914400" y="1508760"/>
            <a:ext cx="1828800" cy="621792"/>
          </a:xfrm>
          <a:prstGeom prst="roundRect">
            <a:avLst>
              <a:gd name="adj" fmla="val 8824"/>
            </a:avLst>
          </a:prstGeom>
          <a:solidFill>
            <a:srgbClr val="FEE2E2"/>
          </a:solidFill>
          <a:ln w="12700">
            <a:solidFill>
              <a:srgbClr val="FEE2E2"/>
            </a:solidFill>
            <a:prstDash val="solid"/>
          </a:ln>
        </p:spPr>
      </p:sp>
      <p:sp>
        <p:nvSpPr>
          <p:cNvPr id="8" name="Text 6"/>
          <p:cNvSpPr/>
          <p:nvPr/>
        </p:nvSpPr>
        <p:spPr>
          <a:xfrm>
            <a:off x="1024128" y="1673352"/>
            <a:ext cx="1609344" cy="256032"/>
          </a:xfrm>
          <a:prstGeom prst="rect">
            <a:avLst/>
          </a:prstGeom>
          <a:noFill/>
          <a:ln/>
        </p:spPr>
        <p:txBody>
          <a:bodyPr wrap="square" lIns="0" tIns="0" rIns="0" bIns="0" rtlCol="0" anchor="ctr">
            <a:normAutofit/>
          </a:bodyPr>
          <a:lstStyle/>
          <a:p>
            <a:pPr algn="ctr" indent="0" marL="0">
              <a:buNone/>
            </a:pPr>
            <a:r>
              <a:rPr lang="en-US" sz="1100" b="1" dirty="0">
                <a:solidFill>
                  <a:srgbClr val="DC2626"/>
                </a:solidFill>
              </a:rPr>
              <a:t>BGE-M3</a:t>
            </a:r>
            <a:endParaRPr lang="en-US" sz="1100" dirty="0"/>
          </a:p>
        </p:txBody>
      </p:sp>
      <p:sp>
        <p:nvSpPr>
          <p:cNvPr id="9" name="Text 7"/>
          <p:cNvSpPr/>
          <p:nvPr/>
        </p:nvSpPr>
        <p:spPr>
          <a:xfrm>
            <a:off x="3063240" y="1627632"/>
            <a:ext cx="6309360" cy="347472"/>
          </a:xfrm>
          <a:prstGeom prst="rect">
            <a:avLst/>
          </a:prstGeom>
          <a:noFill/>
          <a:ln/>
        </p:spPr>
        <p:txBody>
          <a:bodyPr wrap="square" lIns="0" tIns="0" rIns="0" bIns="0" rtlCol="0" anchor="ctr"/>
          <a:lstStyle/>
          <a:p>
            <a:pPr indent="0" marL="0">
              <a:buNone/>
            </a:pPr>
            <a:r>
              <a:rPr lang="en-US" sz="1450" dirty="0">
                <a:solidFill>
                  <a:srgbClr val="0F172A"/>
                </a:solidFill>
              </a:rPr>
              <a:t>No mejora recall ni accuracy estable; aumenta peso del índice y del modelo.</a:t>
            </a:r>
            <a:endParaRPr lang="en-US" sz="1450" dirty="0"/>
          </a:p>
        </p:txBody>
      </p:sp>
      <p:sp>
        <p:nvSpPr>
          <p:cNvPr id="10" name="Shape 8"/>
          <p:cNvSpPr/>
          <p:nvPr/>
        </p:nvSpPr>
        <p:spPr>
          <a:xfrm>
            <a:off x="914400" y="2697480"/>
            <a:ext cx="1828800" cy="621792"/>
          </a:xfrm>
          <a:prstGeom prst="roundRect">
            <a:avLst>
              <a:gd name="adj" fmla="val 8824"/>
            </a:avLst>
          </a:prstGeom>
          <a:solidFill>
            <a:srgbClr val="FEF3C7"/>
          </a:solidFill>
          <a:ln w="12700">
            <a:solidFill>
              <a:srgbClr val="FEF3C7"/>
            </a:solidFill>
            <a:prstDash val="solid"/>
          </a:ln>
        </p:spPr>
      </p:sp>
      <p:sp>
        <p:nvSpPr>
          <p:cNvPr id="11" name="Text 9"/>
          <p:cNvSpPr/>
          <p:nvPr/>
        </p:nvSpPr>
        <p:spPr>
          <a:xfrm>
            <a:off x="1024128" y="2862072"/>
            <a:ext cx="1609344" cy="256032"/>
          </a:xfrm>
          <a:prstGeom prst="rect">
            <a:avLst/>
          </a:prstGeom>
          <a:noFill/>
          <a:ln/>
        </p:spPr>
        <p:txBody>
          <a:bodyPr wrap="square" lIns="0" tIns="0" rIns="0" bIns="0" rtlCol="0" anchor="ctr">
            <a:normAutofit/>
          </a:bodyPr>
          <a:lstStyle/>
          <a:p>
            <a:pPr algn="ctr" indent="0" marL="0">
              <a:buNone/>
            </a:pPr>
            <a:r>
              <a:rPr lang="en-US" sz="1100" b="1" dirty="0">
                <a:solidFill>
                  <a:srgbClr val="D97706"/>
                </a:solidFill>
              </a:rPr>
              <a:t>Docstrings largos</a:t>
            </a:r>
            <a:endParaRPr lang="en-US" sz="1100" dirty="0"/>
          </a:p>
        </p:txBody>
      </p:sp>
      <p:sp>
        <p:nvSpPr>
          <p:cNvPr id="12" name="Text 10"/>
          <p:cNvSpPr/>
          <p:nvPr/>
        </p:nvSpPr>
        <p:spPr>
          <a:xfrm>
            <a:off x="3063240" y="2816352"/>
            <a:ext cx="6309360" cy="347472"/>
          </a:xfrm>
          <a:prstGeom prst="rect">
            <a:avLst/>
          </a:prstGeom>
          <a:noFill/>
          <a:ln/>
        </p:spPr>
        <p:txBody>
          <a:bodyPr wrap="square" lIns="0" tIns="0" rIns="0" bIns="0" rtlCol="0" anchor="ctr"/>
          <a:lstStyle/>
          <a:p>
            <a:pPr indent="0" marL="0">
              <a:buNone/>
            </a:pPr>
            <a:r>
              <a:rPr lang="en-US" sz="1450" dirty="0">
                <a:solidFill>
                  <a:srgbClr val="0F172A"/>
                </a:solidFill>
              </a:rPr>
              <a:t>Mejoran algunas decisiones de tool routing, pero encarecen el contexto.</a:t>
            </a:r>
            <a:endParaRPr lang="en-US" sz="1450" dirty="0"/>
          </a:p>
        </p:txBody>
      </p:sp>
      <p:sp>
        <p:nvSpPr>
          <p:cNvPr id="13" name="Shape 11"/>
          <p:cNvSpPr/>
          <p:nvPr/>
        </p:nvSpPr>
        <p:spPr>
          <a:xfrm>
            <a:off x="914400" y="3886200"/>
            <a:ext cx="1828800" cy="621792"/>
          </a:xfrm>
          <a:prstGeom prst="roundRect">
            <a:avLst>
              <a:gd name="adj" fmla="val 8824"/>
            </a:avLst>
          </a:prstGeom>
          <a:solidFill>
            <a:srgbClr val="DCFCE7"/>
          </a:solidFill>
          <a:ln w="12700">
            <a:solidFill>
              <a:srgbClr val="DCFCE7"/>
            </a:solidFill>
            <a:prstDash val="solid"/>
          </a:ln>
        </p:spPr>
      </p:sp>
      <p:sp>
        <p:nvSpPr>
          <p:cNvPr id="14" name="Text 12"/>
          <p:cNvSpPr/>
          <p:nvPr/>
        </p:nvSpPr>
        <p:spPr>
          <a:xfrm>
            <a:off x="1024128" y="4050792"/>
            <a:ext cx="1609344" cy="256032"/>
          </a:xfrm>
          <a:prstGeom prst="rect">
            <a:avLst/>
          </a:prstGeom>
          <a:noFill/>
          <a:ln/>
        </p:spPr>
        <p:txBody>
          <a:bodyPr wrap="square" lIns="0" tIns="0" rIns="0" bIns="0" rtlCol="0" anchor="ctr">
            <a:normAutofit/>
          </a:bodyPr>
          <a:lstStyle/>
          <a:p>
            <a:pPr algn="ctr" indent="0" marL="0">
              <a:buNone/>
            </a:pPr>
            <a:r>
              <a:rPr lang="en-US" sz="1100" b="1" dirty="0">
                <a:solidFill>
                  <a:srgbClr val="16A34A"/>
                </a:solidFill>
              </a:rPr>
              <a:t>Versión final</a:t>
            </a:r>
            <a:endParaRPr lang="en-US" sz="1100" dirty="0"/>
          </a:p>
        </p:txBody>
      </p:sp>
      <p:sp>
        <p:nvSpPr>
          <p:cNvPr id="15" name="Text 13"/>
          <p:cNvSpPr/>
          <p:nvPr/>
        </p:nvSpPr>
        <p:spPr>
          <a:xfrm>
            <a:off x="3063240" y="4005072"/>
            <a:ext cx="6949440" cy="347472"/>
          </a:xfrm>
          <a:prstGeom prst="rect">
            <a:avLst/>
          </a:prstGeom>
          <a:noFill/>
          <a:ln/>
        </p:spPr>
        <p:txBody>
          <a:bodyPr wrap="square" lIns="0" tIns="0" rIns="0" bIns="0" rtlCol="0" anchor="ctr"/>
          <a:lstStyle/>
          <a:p>
            <a:pPr indent="0" marL="0">
              <a:buNone/>
            </a:pPr>
            <a:r>
              <a:rPr lang="en-US" sz="1450" b="1" dirty="0">
                <a:solidFill>
                  <a:srgbClr val="0F172A"/>
                </a:solidFill>
              </a:rPr>
              <a:t>Se mantiene: Small + docstrings cortos + XBRL + retrieval híbrido + guardrails.</a:t>
            </a:r>
            <a:endParaRPr lang="en-US" sz="1450" dirty="0"/>
          </a:p>
        </p:txBody>
      </p:sp>
      <p:sp>
        <p:nvSpPr>
          <p:cNvPr id="16" name="Text 14"/>
          <p:cNvSpPr/>
          <p:nvPr/>
        </p:nvSpPr>
        <p:spPr>
          <a:xfrm>
            <a:off x="914400" y="5166360"/>
            <a:ext cx="2011680" cy="228600"/>
          </a:xfrm>
          <a:prstGeom prst="rect">
            <a:avLst/>
          </a:prstGeom>
          <a:noFill/>
          <a:ln/>
        </p:spPr>
        <p:txBody>
          <a:bodyPr wrap="square" lIns="0" tIns="0" rIns="0" bIns="0" rtlCol="0" anchor="ctr"/>
          <a:lstStyle/>
          <a:p>
            <a:pPr indent="0" marL="0">
              <a:buNone/>
            </a:pPr>
            <a:r>
              <a:rPr lang="en-US" sz="1550" b="1" dirty="0">
                <a:solidFill>
                  <a:srgbClr val="0F172A"/>
                </a:solidFill>
              </a:rPr>
              <a:t>Criterio de decisión</a:t>
            </a:r>
            <a:endParaRPr lang="en-US" sz="1550" dirty="0"/>
          </a:p>
        </p:txBody>
      </p:sp>
      <p:sp>
        <p:nvSpPr>
          <p:cNvPr id="17" name="Text 15"/>
          <p:cNvSpPr/>
          <p:nvPr/>
        </p:nvSpPr>
        <p:spPr>
          <a:xfrm>
            <a:off x="3063240" y="5166360"/>
            <a:ext cx="7132320" cy="384048"/>
          </a:xfrm>
          <a:prstGeom prst="rect">
            <a:avLst/>
          </a:prstGeom>
          <a:noFill/>
          <a:ln/>
        </p:spPr>
        <p:txBody>
          <a:bodyPr wrap="square" lIns="0" tIns="0" rIns="0" bIns="0" rtlCol="0" anchor="ctr">
            <a:normAutofit/>
          </a:bodyPr>
          <a:lstStyle/>
          <a:p>
            <a:pPr indent="0" marL="0">
              <a:buNone/>
            </a:pPr>
            <a:r>
              <a:rPr lang="en-US" sz="1350" dirty="0">
                <a:solidFill>
                  <a:srgbClr val="475569"/>
                </a:solidFill>
              </a:rPr>
              <a:t>No optimizamos por “parece mejor”; optimizamos por evidencia: accuracy, recall, coste, latencia y trayectoria.</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48640" y="6510528"/>
            <a:ext cx="5029200" cy="201168"/>
          </a:xfrm>
          <a:prstGeom prst="rect">
            <a:avLst/>
          </a:prstGeom>
          <a:noFill/>
          <a:ln/>
        </p:spPr>
        <p:txBody>
          <a:bodyPr wrap="square" lIns="0" tIns="0" rIns="0" bIns="0" rtlCol="0" anchor="ctr"/>
          <a:lstStyle/>
          <a:p>
            <a:pPr indent="0" marL="0">
              <a:buNone/>
            </a:pPr>
            <a:r>
              <a:rPr lang="en-US" sz="850" dirty="0">
                <a:solidFill>
                  <a:srgbClr val="475569"/>
                </a:solidFill>
              </a:rPr>
              <a:t>Agente RAG 10-K · cierre</a:t>
            </a:r>
            <a:endParaRPr lang="en-US" sz="850" dirty="0"/>
          </a:p>
        </p:txBody>
      </p:sp>
      <p:sp>
        <p:nvSpPr>
          <p:cNvPr id="4" name="Text 2"/>
          <p:cNvSpPr/>
          <p:nvPr/>
        </p:nvSpPr>
        <p:spPr>
          <a:xfrm>
            <a:off x="11292840" y="6510528"/>
            <a:ext cx="365760" cy="201168"/>
          </a:xfrm>
          <a:prstGeom prst="rect">
            <a:avLst/>
          </a:prstGeom>
          <a:noFill/>
          <a:ln/>
        </p:spPr>
        <p:txBody>
          <a:bodyPr wrap="square" lIns="0" tIns="0" rIns="0" bIns="0" rtlCol="0" anchor="ctr"/>
          <a:lstStyle/>
          <a:p>
            <a:pPr algn="r" indent="0" marL="0">
              <a:buNone/>
            </a:pPr>
            <a:r>
              <a:rPr lang="en-US" sz="850" dirty="0">
                <a:solidFill>
                  <a:srgbClr val="475569"/>
                </a:solidFill>
              </a:rPr>
              <a:t>10</a:t>
            </a:r>
            <a:endParaRPr lang="en-US" sz="850" dirty="0"/>
          </a:p>
        </p:txBody>
      </p:sp>
      <p:sp>
        <p:nvSpPr>
          <p:cNvPr id="5" name="Text 3"/>
          <p:cNvSpPr/>
          <p:nvPr/>
        </p:nvSpPr>
        <p:spPr>
          <a:xfrm>
            <a:off x="548640" y="411480"/>
            <a:ext cx="6949440" cy="457200"/>
          </a:xfrm>
          <a:prstGeom prst="rect">
            <a:avLst/>
          </a:prstGeom>
          <a:noFill/>
          <a:ln/>
        </p:spPr>
        <p:txBody>
          <a:bodyPr wrap="square" lIns="0" tIns="0" rIns="0" bIns="0" rtlCol="0" anchor="ctr">
            <a:normAutofit/>
          </a:bodyPr>
          <a:lstStyle/>
          <a:p>
            <a:pPr indent="0" marL="0">
              <a:buNone/>
            </a:pPr>
            <a:r>
              <a:rPr lang="en-US" sz="2500" b="1" dirty="0">
                <a:solidFill>
                  <a:srgbClr val="0F172A"/>
                </a:solidFill>
              </a:rPr>
              <a:t>Estado final y holdout</a:t>
            </a:r>
            <a:endParaRPr lang="en-US" sz="2500" dirty="0"/>
          </a:p>
        </p:txBody>
      </p:sp>
      <p:sp>
        <p:nvSpPr>
          <p:cNvPr id="6" name="Text 4"/>
          <p:cNvSpPr/>
          <p:nvPr/>
        </p:nvSpPr>
        <p:spPr>
          <a:xfrm>
            <a:off x="548640" y="932688"/>
            <a:ext cx="7955280" cy="274320"/>
          </a:xfrm>
          <a:prstGeom prst="rect">
            <a:avLst/>
          </a:prstGeom>
          <a:noFill/>
          <a:ln/>
        </p:spPr>
        <p:txBody>
          <a:bodyPr wrap="square" lIns="0" tIns="0" rIns="0" bIns="0" rtlCol="0" anchor="ctr"/>
          <a:lstStyle/>
          <a:p>
            <a:pPr indent="0" marL="0">
              <a:buNone/>
            </a:pPr>
            <a:r>
              <a:rPr lang="en-US" sz="1150" dirty="0">
                <a:solidFill>
                  <a:srgbClr val="475569"/>
                </a:solidFill>
              </a:rPr>
              <a:t>Notebook congelado; la prueba ciega queda para la exposición.</a:t>
            </a:r>
            <a:endParaRPr lang="en-US" sz="1150" dirty="0"/>
          </a:p>
        </p:txBody>
      </p:sp>
      <p:sp>
        <p:nvSpPr>
          <p:cNvPr id="7" name="Text 5"/>
          <p:cNvSpPr/>
          <p:nvPr/>
        </p:nvSpPr>
        <p:spPr>
          <a:xfrm>
            <a:off x="822960" y="1417320"/>
            <a:ext cx="1828800" cy="502920"/>
          </a:xfrm>
          <a:prstGeom prst="rect">
            <a:avLst/>
          </a:prstGeom>
          <a:noFill/>
          <a:ln/>
        </p:spPr>
        <p:txBody>
          <a:bodyPr wrap="square" lIns="0" tIns="0" rIns="0" bIns="0" rtlCol="0" anchor="ctr">
            <a:normAutofit/>
          </a:bodyPr>
          <a:lstStyle/>
          <a:p>
            <a:pPr indent="0" marL="0">
              <a:buNone/>
            </a:pPr>
            <a:r>
              <a:rPr lang="en-US" sz="3100" b="1" dirty="0">
                <a:solidFill>
                  <a:srgbClr val="2563EB"/>
                </a:solidFill>
              </a:rPr>
              <a:t>Run all</a:t>
            </a:r>
            <a:endParaRPr lang="en-US" sz="3100" dirty="0"/>
          </a:p>
        </p:txBody>
      </p:sp>
      <p:sp>
        <p:nvSpPr>
          <p:cNvPr id="8" name="Text 6"/>
          <p:cNvSpPr/>
          <p:nvPr/>
        </p:nvSpPr>
        <p:spPr>
          <a:xfrm>
            <a:off x="822960" y="1984248"/>
            <a:ext cx="182880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validado</a:t>
            </a:r>
            <a:endParaRPr lang="en-US" sz="1250" dirty="0"/>
          </a:p>
        </p:txBody>
      </p:sp>
      <p:sp>
        <p:nvSpPr>
          <p:cNvPr id="9" name="Text 7"/>
          <p:cNvSpPr/>
          <p:nvPr/>
        </p:nvSpPr>
        <p:spPr>
          <a:xfrm>
            <a:off x="3063240" y="1417320"/>
            <a:ext cx="1828800" cy="502920"/>
          </a:xfrm>
          <a:prstGeom prst="rect">
            <a:avLst/>
          </a:prstGeom>
          <a:noFill/>
          <a:ln/>
        </p:spPr>
        <p:txBody>
          <a:bodyPr wrap="square" lIns="0" tIns="0" rIns="0" bIns="0" rtlCol="0" anchor="ctr">
            <a:normAutofit/>
          </a:bodyPr>
          <a:lstStyle/>
          <a:p>
            <a:pPr indent="0" marL="0">
              <a:buNone/>
            </a:pPr>
            <a:r>
              <a:rPr lang="en-US" sz="3100" b="1" dirty="0">
                <a:solidFill>
                  <a:srgbClr val="16A34A"/>
                </a:solidFill>
              </a:rPr>
              <a:t>20/20</a:t>
            </a:r>
            <a:endParaRPr lang="en-US" sz="3100" dirty="0"/>
          </a:p>
        </p:txBody>
      </p:sp>
      <p:sp>
        <p:nvSpPr>
          <p:cNvPr id="10" name="Text 8"/>
          <p:cNvSpPr/>
          <p:nvPr/>
        </p:nvSpPr>
        <p:spPr>
          <a:xfrm>
            <a:off x="3063240" y="1984248"/>
            <a:ext cx="182880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golden propio</a:t>
            </a:r>
            <a:endParaRPr lang="en-US" sz="1250" dirty="0"/>
          </a:p>
        </p:txBody>
      </p:sp>
      <p:sp>
        <p:nvSpPr>
          <p:cNvPr id="11" name="Text 9"/>
          <p:cNvSpPr/>
          <p:nvPr/>
        </p:nvSpPr>
        <p:spPr>
          <a:xfrm>
            <a:off x="5394960" y="1417320"/>
            <a:ext cx="2194560" cy="502920"/>
          </a:xfrm>
          <a:prstGeom prst="rect">
            <a:avLst/>
          </a:prstGeom>
          <a:noFill/>
          <a:ln/>
        </p:spPr>
        <p:txBody>
          <a:bodyPr wrap="square" lIns="0" tIns="0" rIns="0" bIns="0" rtlCol="0" anchor="ctr">
            <a:normAutofit/>
          </a:bodyPr>
          <a:lstStyle/>
          <a:p>
            <a:pPr indent="0" marL="0">
              <a:buNone/>
            </a:pPr>
            <a:r>
              <a:rPr lang="en-US" sz="3100" b="1" dirty="0">
                <a:solidFill>
                  <a:srgbClr val="4F46E5"/>
                </a:solidFill>
              </a:rPr>
              <a:t>evaluar()</a:t>
            </a:r>
            <a:endParaRPr lang="en-US" sz="3100" dirty="0"/>
          </a:p>
        </p:txBody>
      </p:sp>
      <p:sp>
        <p:nvSpPr>
          <p:cNvPr id="12" name="Text 10"/>
          <p:cNvSpPr/>
          <p:nvPr/>
        </p:nvSpPr>
        <p:spPr>
          <a:xfrm>
            <a:off x="5394960" y="1984248"/>
            <a:ext cx="2194560" cy="457200"/>
          </a:xfrm>
          <a:prstGeom prst="rect">
            <a:avLst/>
          </a:prstGeom>
          <a:noFill/>
          <a:ln/>
        </p:spPr>
        <p:txBody>
          <a:bodyPr wrap="square" lIns="0" tIns="0" rIns="0" bIns="0" rtlCol="0" anchor="ctr">
            <a:normAutofit/>
          </a:bodyPr>
          <a:lstStyle/>
          <a:p>
            <a:pPr indent="0" marL="0">
              <a:buNone/>
            </a:pPr>
            <a:r>
              <a:rPr lang="en-US" sz="1250" dirty="0">
                <a:solidFill>
                  <a:srgbClr val="475569"/>
                </a:solidFill>
              </a:rPr>
              <a:t>listo para holdout</a:t>
            </a:r>
            <a:endParaRPr lang="en-US" sz="1250" dirty="0"/>
          </a:p>
        </p:txBody>
      </p:sp>
      <p:sp>
        <p:nvSpPr>
          <p:cNvPr id="13" name="Text 11"/>
          <p:cNvSpPr/>
          <p:nvPr/>
        </p:nvSpPr>
        <p:spPr>
          <a:xfrm>
            <a:off x="914400" y="3154680"/>
            <a:ext cx="2194560" cy="256032"/>
          </a:xfrm>
          <a:prstGeom prst="rect">
            <a:avLst/>
          </a:prstGeom>
          <a:noFill/>
          <a:ln/>
        </p:spPr>
        <p:txBody>
          <a:bodyPr wrap="square" lIns="0" tIns="0" rIns="0" bIns="0" rtlCol="0" anchor="ctr"/>
          <a:lstStyle/>
          <a:p>
            <a:pPr indent="0" marL="0">
              <a:buNone/>
            </a:pPr>
            <a:r>
              <a:rPr lang="en-US" sz="1600" b="1" dirty="0">
                <a:solidFill>
                  <a:srgbClr val="0F172A"/>
                </a:solidFill>
              </a:rPr>
              <a:t>Lo que entregamos</a:t>
            </a:r>
            <a:endParaRPr lang="en-US" sz="1600" dirty="0"/>
          </a:p>
        </p:txBody>
      </p:sp>
      <p:sp>
        <p:nvSpPr>
          <p:cNvPr id="14" name="Text 12"/>
          <p:cNvSpPr/>
          <p:nvPr/>
        </p:nvSpPr>
        <p:spPr>
          <a:xfrm>
            <a:off x="914400" y="3611880"/>
            <a:ext cx="7863840" cy="365760"/>
          </a:xfrm>
          <a:prstGeom prst="rect">
            <a:avLst/>
          </a:prstGeom>
          <a:noFill/>
          <a:ln/>
        </p:spPr>
        <p:txBody>
          <a:bodyPr wrap="square" lIns="0" tIns="0" rIns="0" bIns="0" rtlCol="0" anchor="ctr"/>
          <a:lstStyle/>
          <a:p>
            <a:pPr indent="0" marL="0">
              <a:buNone/>
            </a:pPr>
            <a:r>
              <a:rPr lang="en-US" sz="1350" dirty="0">
                <a:solidFill>
                  <a:srgbClr val="475569"/>
                </a:solidFill>
              </a:rPr>
              <a:t>Notebook limpio · resultados reproducibles · presentación · holdout preparado</a:t>
            </a:r>
            <a:endParaRPr lang="en-US" sz="1350" dirty="0"/>
          </a:p>
        </p:txBody>
      </p:sp>
      <p:sp>
        <p:nvSpPr>
          <p:cNvPr id="15" name="Shape 13"/>
          <p:cNvSpPr/>
          <p:nvPr/>
        </p:nvSpPr>
        <p:spPr>
          <a:xfrm>
            <a:off x="914400" y="4754880"/>
            <a:ext cx="7498080" cy="731520"/>
          </a:xfrm>
          <a:prstGeom prst="roundRect">
            <a:avLst>
              <a:gd name="adj" fmla="val 10000"/>
            </a:avLst>
          </a:prstGeom>
          <a:solidFill>
            <a:srgbClr val="DCFCE7"/>
          </a:solidFill>
          <a:ln w="13970">
            <a:solidFill>
              <a:srgbClr val="16A34A"/>
            </a:solidFill>
            <a:prstDash val="solid"/>
          </a:ln>
        </p:spPr>
      </p:sp>
      <p:sp>
        <p:nvSpPr>
          <p:cNvPr id="16" name="Text 14"/>
          <p:cNvSpPr/>
          <p:nvPr/>
        </p:nvSpPr>
        <p:spPr>
          <a:xfrm>
            <a:off x="1078992" y="4892040"/>
            <a:ext cx="7168896" cy="530352"/>
          </a:xfrm>
          <a:prstGeom prst="rect">
            <a:avLst/>
          </a:prstGeom>
          <a:noFill/>
          <a:ln/>
        </p:spPr>
        <p:txBody>
          <a:bodyPr wrap="square" lIns="381" tIns="381" rIns="381" bIns="381" rtlCol="0" anchor="ctr">
            <a:normAutofit/>
          </a:bodyPr>
          <a:lstStyle/>
          <a:p>
            <a:pPr indent="0" marL="0">
              <a:buNone/>
            </a:pPr>
            <a:r>
              <a:rPr lang="en-US" sz="1250" dirty="0">
                <a:solidFill>
                  <a:srgbClr val="0F172A"/>
                </a:solidFill>
              </a:rPr>
              <a:t>La versión queda congelada: no se ajusta después de ver las 10 preguntas del holdout.</a:t>
            </a:r>
            <a:endParaRPr lang="en-US" sz="1250" dirty="0"/>
          </a:p>
        </p:txBody>
      </p:sp>
      <p:sp>
        <p:nvSpPr>
          <p:cNvPr id="17" name="Text 15"/>
          <p:cNvSpPr/>
          <p:nvPr/>
        </p:nvSpPr>
        <p:spPr>
          <a:xfrm>
            <a:off x="914400" y="5715000"/>
            <a:ext cx="9509760" cy="347472"/>
          </a:xfrm>
          <a:prstGeom prst="rect">
            <a:avLst/>
          </a:prstGeom>
          <a:noFill/>
          <a:ln/>
        </p:spPr>
        <p:txBody>
          <a:bodyPr wrap="square" lIns="0" tIns="0" rIns="0" bIns="0" rtlCol="0" anchor="ctr">
            <a:normAutofit/>
          </a:bodyPr>
          <a:lstStyle/>
          <a:p>
            <a:pPr algn="ctr" indent="0" marL="0">
              <a:buNone/>
            </a:pPr>
            <a:r>
              <a:rPr lang="en-US" sz="1650" b="1" dirty="0">
                <a:solidFill>
                  <a:srgbClr val="0F172A"/>
                </a:solidFill>
              </a:rPr>
              <a:t>Idea final: un agente fiable necesita buenas fuentes, buenas herramientas y métricas que castiguen la falta de trazabilidad.</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MIAX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 RAG financiero sobre informes 10-K</dc:title>
  <dc:subject>Agente RAG sobre informes 10-K</dc:subject>
  <dc:creator>MIAX · Grupo práctica RAG 10-K</dc:creator>
  <cp:lastModifiedBy>MIAX · Grupo práctica RAG 10-K</cp:lastModifiedBy>
  <cp:revision>1</cp:revision>
  <dcterms:created xsi:type="dcterms:W3CDTF">2026-09-23T10:24:28Z</dcterms:created>
  <dcterms:modified xsi:type="dcterms:W3CDTF">2026-09-23T10:24:28Z</dcterms:modified>
</cp:coreProperties>
</file>